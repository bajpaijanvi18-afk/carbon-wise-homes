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8" r:id="rId9"/>
    <p:sldId id="269" r:id="rId10"/>
    <p:sldId id="270" r:id="rId11"/>
    <p:sldId id="263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4" d="100"/>
          <a:sy n="84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8646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8646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8646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8646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55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18"/>
                </a:moveTo>
                <a:lnTo>
                  <a:pt x="3577" y="281165"/>
                </a:lnTo>
                <a:lnTo>
                  <a:pt x="13968" y="234633"/>
                </a:lnTo>
                <a:lnTo>
                  <a:pt x="30663" y="190832"/>
                </a:lnTo>
                <a:lnTo>
                  <a:pt x="53151" y="150274"/>
                </a:lnTo>
                <a:lnTo>
                  <a:pt x="80923" y="113467"/>
                </a:lnTo>
                <a:lnTo>
                  <a:pt x="113467" y="80923"/>
                </a:lnTo>
                <a:lnTo>
                  <a:pt x="150274" y="53151"/>
                </a:lnTo>
                <a:lnTo>
                  <a:pt x="190832" y="30663"/>
                </a:lnTo>
                <a:lnTo>
                  <a:pt x="234633" y="13968"/>
                </a:lnTo>
                <a:lnTo>
                  <a:pt x="281165" y="3577"/>
                </a:lnTo>
                <a:lnTo>
                  <a:pt x="329918" y="0"/>
                </a:lnTo>
                <a:lnTo>
                  <a:pt x="8683453" y="0"/>
                </a:lnTo>
                <a:lnTo>
                  <a:pt x="8735375" y="4109"/>
                </a:lnTo>
                <a:lnTo>
                  <a:pt x="8785551" y="16194"/>
                </a:lnTo>
                <a:lnTo>
                  <a:pt x="8833095" y="35888"/>
                </a:lnTo>
                <a:lnTo>
                  <a:pt x="8877120" y="62822"/>
                </a:lnTo>
                <a:lnTo>
                  <a:pt x="8916741" y="96630"/>
                </a:lnTo>
                <a:lnTo>
                  <a:pt x="8950549" y="136251"/>
                </a:lnTo>
                <a:lnTo>
                  <a:pt x="8977483" y="180276"/>
                </a:lnTo>
                <a:lnTo>
                  <a:pt x="8997177" y="227820"/>
                </a:lnTo>
                <a:lnTo>
                  <a:pt x="9009262" y="277995"/>
                </a:lnTo>
                <a:lnTo>
                  <a:pt x="9013371" y="329918"/>
                </a:lnTo>
                <a:lnTo>
                  <a:pt x="9013371" y="6363489"/>
                </a:lnTo>
                <a:lnTo>
                  <a:pt x="9009794" y="6412242"/>
                </a:lnTo>
                <a:lnTo>
                  <a:pt x="8999403" y="6458774"/>
                </a:lnTo>
                <a:lnTo>
                  <a:pt x="8982708" y="6502575"/>
                </a:lnTo>
                <a:lnTo>
                  <a:pt x="8960219" y="6543133"/>
                </a:lnTo>
                <a:lnTo>
                  <a:pt x="8932448" y="6579940"/>
                </a:lnTo>
                <a:lnTo>
                  <a:pt x="8899904" y="6612484"/>
                </a:lnTo>
                <a:lnTo>
                  <a:pt x="8863097" y="6640256"/>
                </a:lnTo>
                <a:lnTo>
                  <a:pt x="8822538" y="6662744"/>
                </a:lnTo>
                <a:lnTo>
                  <a:pt x="8778738" y="6679439"/>
                </a:lnTo>
                <a:lnTo>
                  <a:pt x="8732206" y="6689831"/>
                </a:lnTo>
                <a:lnTo>
                  <a:pt x="8683453" y="6693408"/>
                </a:lnTo>
                <a:lnTo>
                  <a:pt x="329918" y="6693408"/>
                </a:lnTo>
                <a:lnTo>
                  <a:pt x="281165" y="6689831"/>
                </a:lnTo>
                <a:lnTo>
                  <a:pt x="234633" y="6679439"/>
                </a:lnTo>
                <a:lnTo>
                  <a:pt x="190832" y="6662744"/>
                </a:lnTo>
                <a:lnTo>
                  <a:pt x="150274" y="6640256"/>
                </a:lnTo>
                <a:lnTo>
                  <a:pt x="113467" y="6612484"/>
                </a:lnTo>
                <a:lnTo>
                  <a:pt x="80923" y="6579940"/>
                </a:lnTo>
                <a:lnTo>
                  <a:pt x="53151" y="6543133"/>
                </a:lnTo>
                <a:lnTo>
                  <a:pt x="30663" y="6502575"/>
                </a:lnTo>
                <a:lnTo>
                  <a:pt x="13968" y="6458774"/>
                </a:lnTo>
                <a:lnTo>
                  <a:pt x="3577" y="6412242"/>
                </a:lnTo>
                <a:lnTo>
                  <a:pt x="0" y="6363489"/>
                </a:lnTo>
                <a:lnTo>
                  <a:pt x="0" y="32991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7425" y="39780"/>
            <a:ext cx="7656195" cy="1286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8646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7425" y="1443862"/>
            <a:ext cx="7423784" cy="4549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8073" y="6318453"/>
            <a:ext cx="207009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550" y="64992"/>
            <a:ext cx="9023985" cy="6701790"/>
            <a:chOff x="60550" y="64992"/>
            <a:chExt cx="9023985" cy="6701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13" y="69755"/>
              <a:ext cx="9013372" cy="6692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13" y="69755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858"/>
                  </a:moveTo>
                  <a:lnTo>
                    <a:pt x="3576" y="281114"/>
                  </a:lnTo>
                  <a:lnTo>
                    <a:pt x="13965" y="234591"/>
                  </a:lnTo>
                  <a:lnTo>
                    <a:pt x="30657" y="190798"/>
                  </a:lnTo>
                  <a:lnTo>
                    <a:pt x="53142" y="150247"/>
                  </a:lnTo>
                  <a:lnTo>
                    <a:pt x="80908" y="113447"/>
                  </a:lnTo>
                  <a:lnTo>
                    <a:pt x="113447" y="80908"/>
                  </a:lnTo>
                  <a:lnTo>
                    <a:pt x="150247" y="53142"/>
                  </a:lnTo>
                  <a:lnTo>
                    <a:pt x="190798" y="30657"/>
                  </a:lnTo>
                  <a:lnTo>
                    <a:pt x="234591" y="13965"/>
                  </a:lnTo>
                  <a:lnTo>
                    <a:pt x="281114" y="3576"/>
                  </a:lnTo>
                  <a:lnTo>
                    <a:pt x="329858" y="0"/>
                  </a:lnTo>
                  <a:lnTo>
                    <a:pt x="8683513" y="0"/>
                  </a:lnTo>
                  <a:lnTo>
                    <a:pt x="8735426" y="4109"/>
                  </a:lnTo>
                  <a:lnTo>
                    <a:pt x="8785592" y="16192"/>
                  </a:lnTo>
                  <a:lnTo>
                    <a:pt x="8833127" y="35881"/>
                  </a:lnTo>
                  <a:lnTo>
                    <a:pt x="8877145" y="62811"/>
                  </a:lnTo>
                  <a:lnTo>
                    <a:pt x="8916758" y="96613"/>
                  </a:lnTo>
                  <a:lnTo>
                    <a:pt x="8950560" y="136226"/>
                  </a:lnTo>
                  <a:lnTo>
                    <a:pt x="8977490" y="180244"/>
                  </a:lnTo>
                  <a:lnTo>
                    <a:pt x="8997179" y="227779"/>
                  </a:lnTo>
                  <a:lnTo>
                    <a:pt x="9009262" y="277945"/>
                  </a:lnTo>
                  <a:lnTo>
                    <a:pt x="9013371" y="329858"/>
                  </a:lnTo>
                  <a:lnTo>
                    <a:pt x="9013371" y="6362342"/>
                  </a:lnTo>
                  <a:lnTo>
                    <a:pt x="9009795" y="6411086"/>
                  </a:lnTo>
                  <a:lnTo>
                    <a:pt x="8999406" y="6457609"/>
                  </a:lnTo>
                  <a:lnTo>
                    <a:pt x="8982714" y="6501402"/>
                  </a:lnTo>
                  <a:lnTo>
                    <a:pt x="8960229" y="6541953"/>
                  </a:lnTo>
                  <a:lnTo>
                    <a:pt x="8932463" y="6578754"/>
                  </a:lnTo>
                  <a:lnTo>
                    <a:pt x="8899924" y="6611292"/>
                  </a:lnTo>
                  <a:lnTo>
                    <a:pt x="8863124" y="6639058"/>
                  </a:lnTo>
                  <a:lnTo>
                    <a:pt x="8822573" y="6661543"/>
                  </a:lnTo>
                  <a:lnTo>
                    <a:pt x="8778781" y="6678235"/>
                  </a:lnTo>
                  <a:lnTo>
                    <a:pt x="8732257" y="6688624"/>
                  </a:lnTo>
                  <a:lnTo>
                    <a:pt x="8683513" y="6692201"/>
                  </a:lnTo>
                  <a:lnTo>
                    <a:pt x="329858" y="6692201"/>
                  </a:lnTo>
                  <a:lnTo>
                    <a:pt x="281114" y="6688624"/>
                  </a:lnTo>
                  <a:lnTo>
                    <a:pt x="234591" y="6678235"/>
                  </a:lnTo>
                  <a:lnTo>
                    <a:pt x="190798" y="6661543"/>
                  </a:lnTo>
                  <a:lnTo>
                    <a:pt x="150247" y="6639058"/>
                  </a:lnTo>
                  <a:lnTo>
                    <a:pt x="113447" y="6611292"/>
                  </a:lnTo>
                  <a:lnTo>
                    <a:pt x="80908" y="6578754"/>
                  </a:lnTo>
                  <a:lnTo>
                    <a:pt x="53142" y="6541953"/>
                  </a:lnTo>
                  <a:lnTo>
                    <a:pt x="30657" y="6501402"/>
                  </a:lnTo>
                  <a:lnTo>
                    <a:pt x="13965" y="6457609"/>
                  </a:lnTo>
                  <a:lnTo>
                    <a:pt x="3576" y="6411086"/>
                  </a:lnTo>
                  <a:lnTo>
                    <a:pt x="0" y="6362342"/>
                  </a:lnTo>
                  <a:lnTo>
                    <a:pt x="0" y="329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" y="1396720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36" y="120579"/>
                  </a:moveTo>
                  <a:lnTo>
                    <a:pt x="0" y="120579"/>
                  </a:lnTo>
                  <a:lnTo>
                    <a:pt x="0" y="0"/>
                  </a:lnTo>
                  <a:lnTo>
                    <a:pt x="9021536" y="0"/>
                  </a:lnTo>
                  <a:lnTo>
                    <a:pt x="9021536" y="120579"/>
                  </a:lnTo>
                  <a:close/>
                </a:path>
              </a:pathLst>
            </a:custGeom>
            <a:solidFill>
              <a:srgbClr val="E6AE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931" y="2976649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36" y="110531"/>
                  </a:moveTo>
                  <a:lnTo>
                    <a:pt x="0" y="110531"/>
                  </a:lnTo>
                  <a:lnTo>
                    <a:pt x="0" y="0"/>
                  </a:lnTo>
                  <a:lnTo>
                    <a:pt x="9021536" y="0"/>
                  </a:lnTo>
                  <a:lnTo>
                    <a:pt x="9021536" y="110531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71956" y="3582271"/>
            <a:ext cx="3855085" cy="17312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7F7F7F"/>
                </a:solidFill>
                <a:latin typeface="Times New Roman"/>
                <a:cs typeface="Times New Roman"/>
              </a:rPr>
              <a:t>Course:</a:t>
            </a:r>
            <a:r>
              <a:rPr sz="2800" b="1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7F7F7F"/>
                </a:solidFill>
                <a:latin typeface="Times New Roman"/>
                <a:cs typeface="Times New Roman"/>
              </a:rPr>
              <a:t>ECE</a:t>
            </a:r>
            <a:r>
              <a:rPr sz="2800" b="1" spc="-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(AIML</a:t>
            </a:r>
            <a:r>
              <a:rPr sz="2800" b="1" spc="-16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7F7F7F"/>
                </a:solidFill>
                <a:latin typeface="Times New Roman"/>
                <a:cs typeface="Times New Roman"/>
              </a:rPr>
              <a:t>-</a:t>
            </a:r>
            <a:r>
              <a:rPr sz="2800" b="1" spc="-25" dirty="0">
                <a:solidFill>
                  <a:srgbClr val="7F7F7F"/>
                </a:solidFill>
                <a:latin typeface="Times New Roman"/>
                <a:cs typeface="Times New Roman"/>
              </a:rPr>
              <a:t> B)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2600" spc="315" dirty="0">
                <a:solidFill>
                  <a:srgbClr val="686464"/>
                </a:solidFill>
                <a:latin typeface="Cambria"/>
                <a:cs typeface="Cambria"/>
              </a:rPr>
              <a:t>By</a:t>
            </a:r>
            <a:endParaRPr sz="26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Janvi</a:t>
            </a:r>
            <a:r>
              <a:rPr sz="1800" b="1" spc="-40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86464"/>
                </a:solidFill>
                <a:latin typeface="Times New Roman"/>
                <a:cs typeface="Times New Roman"/>
              </a:rPr>
              <a:t>Bajpai</a:t>
            </a:r>
            <a:r>
              <a:rPr sz="1800" b="1" spc="-25" dirty="0">
                <a:solidFill>
                  <a:srgbClr val="686464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86464"/>
                </a:solidFill>
                <a:latin typeface="Times New Roman"/>
                <a:cs typeface="Times New Roman"/>
              </a:rPr>
              <a:t>1032233180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31" y="1517300"/>
            <a:ext cx="9022080" cy="1459865"/>
          </a:xfrm>
          <a:prstGeom prst="rect">
            <a:avLst/>
          </a:prstGeom>
          <a:solidFill>
            <a:srgbClr val="D34817"/>
          </a:solidFill>
        </p:spPr>
        <p:txBody>
          <a:bodyPr vert="horz" wrap="square" lIns="0" tIns="393065" rIns="0" bIns="0" rtlCol="0">
            <a:spAutoFit/>
          </a:bodyPr>
          <a:lstStyle/>
          <a:p>
            <a:pPr marL="296545" algn="ctr">
              <a:lnSpc>
                <a:spcPct val="100000"/>
              </a:lnSpc>
              <a:spcBef>
                <a:spcPts val="3095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Carbon</a:t>
            </a:r>
            <a:r>
              <a:rPr sz="4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Emissions</a:t>
            </a:r>
            <a:r>
              <a:rPr sz="4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Calculator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432" y="228600"/>
            <a:ext cx="1142999" cy="11429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Department</a:t>
            </a:r>
            <a:r>
              <a:rPr sz="3200" b="1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of</a:t>
            </a:r>
            <a:r>
              <a:rPr sz="3200" b="1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Electrical</a:t>
            </a:r>
            <a:r>
              <a:rPr sz="3200" b="1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7F7F7F"/>
                </a:solidFill>
                <a:latin typeface="Times New Roman"/>
                <a:cs typeface="Times New Roman"/>
              </a:rPr>
              <a:t>and</a:t>
            </a:r>
            <a:r>
              <a:rPr sz="3200" b="1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Electronics Engineering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212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Why</a:t>
            </a:r>
            <a:r>
              <a:rPr spc="-525" dirty="0"/>
              <a:t> </a:t>
            </a:r>
            <a:r>
              <a:rPr spc="-114" dirty="0"/>
              <a:t>this</a:t>
            </a:r>
            <a:r>
              <a:rPr spc="-525" dirty="0"/>
              <a:t> </a:t>
            </a:r>
            <a:r>
              <a:rPr spc="-140" dirty="0"/>
              <a:t>project</a:t>
            </a:r>
            <a:r>
              <a:rPr spc="-520" dirty="0"/>
              <a:t> </a:t>
            </a:r>
            <a:r>
              <a:rPr spc="-110" dirty="0"/>
              <a:t>matters?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1812" y="1676400"/>
            <a:ext cx="8080375" cy="37651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700" spc="235" dirty="0">
                <a:latin typeface="Cambria"/>
                <a:cs typeface="Cambria"/>
              </a:rPr>
              <a:t>Buildings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165" dirty="0">
                <a:latin typeface="Cambria"/>
                <a:cs typeface="Cambria"/>
              </a:rPr>
              <a:t>=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~40%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300" dirty="0">
                <a:latin typeface="Cambria"/>
                <a:cs typeface="Cambria"/>
              </a:rPr>
              <a:t>of</a:t>
            </a:r>
            <a:r>
              <a:rPr sz="2700" spc="160" dirty="0">
                <a:latin typeface="Cambria"/>
                <a:cs typeface="Cambria"/>
              </a:rPr>
              <a:t> </a:t>
            </a:r>
            <a:r>
              <a:rPr sz="2700" spc="220" dirty="0">
                <a:latin typeface="Cambria"/>
                <a:cs typeface="Cambria"/>
              </a:rPr>
              <a:t>global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365" dirty="0">
                <a:latin typeface="Cambria"/>
                <a:cs typeface="Cambria"/>
              </a:rPr>
              <a:t>CO₂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220" dirty="0">
                <a:latin typeface="Cambria"/>
                <a:cs typeface="Cambria"/>
              </a:rPr>
              <a:t>emissions </a:t>
            </a:r>
            <a:r>
              <a:rPr sz="2700" spc="229" dirty="0">
                <a:latin typeface="Cambria"/>
                <a:cs typeface="Cambria"/>
              </a:rPr>
              <a:t>Existing</a:t>
            </a:r>
            <a:r>
              <a:rPr sz="2700" spc="160" dirty="0">
                <a:latin typeface="Cambria"/>
                <a:cs typeface="Cambria"/>
              </a:rPr>
              <a:t> </a:t>
            </a:r>
            <a:r>
              <a:rPr sz="2700" spc="190" dirty="0">
                <a:latin typeface="Cambria"/>
                <a:cs typeface="Cambria"/>
              </a:rPr>
              <a:t>tools</a:t>
            </a:r>
            <a:r>
              <a:rPr sz="2700" spc="185" dirty="0">
                <a:latin typeface="Cambria"/>
                <a:cs typeface="Cambria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→</a:t>
            </a:r>
            <a:r>
              <a:rPr sz="2700" spc="105" dirty="0">
                <a:latin typeface="Times New Roman"/>
                <a:cs typeface="Times New Roman"/>
              </a:rPr>
              <a:t> </a:t>
            </a:r>
            <a:r>
              <a:rPr sz="2700" spc="229" dirty="0">
                <a:latin typeface="Cambria"/>
                <a:cs typeface="Cambria"/>
              </a:rPr>
              <a:t>Focus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spc="320" dirty="0">
                <a:latin typeface="Cambria"/>
                <a:cs typeface="Cambria"/>
              </a:rPr>
              <a:t>on</a:t>
            </a:r>
            <a:r>
              <a:rPr sz="2700" spc="195" dirty="0">
                <a:latin typeface="Cambria"/>
                <a:cs typeface="Cambria"/>
              </a:rPr>
              <a:t> </a:t>
            </a:r>
            <a:r>
              <a:rPr sz="2700" spc="185" dirty="0">
                <a:latin typeface="Cambria"/>
                <a:cs typeface="Cambria"/>
              </a:rPr>
              <a:t>lifestyle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spc="105" dirty="0">
                <a:latin typeface="Cambria"/>
                <a:cs typeface="Cambria"/>
              </a:rPr>
              <a:t>(travel, </a:t>
            </a:r>
            <a:r>
              <a:rPr sz="2700" spc="210" dirty="0">
                <a:latin typeface="Cambria"/>
                <a:cs typeface="Cambria"/>
              </a:rPr>
              <a:t>food),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spc="245" dirty="0">
                <a:latin typeface="Cambria"/>
                <a:cs typeface="Cambria"/>
              </a:rPr>
              <a:t>ignore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spc="215" dirty="0">
                <a:latin typeface="Cambria"/>
                <a:cs typeface="Cambria"/>
              </a:rPr>
              <a:t>buildings</a:t>
            </a:r>
            <a:endParaRPr lang="en-US" sz="2700" spc="215" dirty="0">
              <a:latin typeface="Cambria"/>
              <a:cs typeface="Cambria"/>
            </a:endParaRPr>
          </a:p>
          <a:p>
            <a:pPr marL="12700" marR="5080" algn="just">
              <a:spcBef>
                <a:spcPts val="100"/>
              </a:spcBef>
            </a:pPr>
            <a:endParaRPr sz="2700" dirty="0">
              <a:latin typeface="Cambria"/>
              <a:cs typeface="Cambria"/>
            </a:endParaRPr>
          </a:p>
          <a:p>
            <a:pPr marL="469900" marR="60325" indent="-457200" algn="just">
              <a:buFont typeface="Arial" panose="020B0604020202020204" pitchFamily="34" charset="0"/>
              <a:buChar char="•"/>
            </a:pPr>
            <a:r>
              <a:rPr sz="2700" spc="180" dirty="0">
                <a:latin typeface="Cambria"/>
                <a:cs typeface="Cambria"/>
              </a:rPr>
              <a:t>India’s</a:t>
            </a:r>
            <a:r>
              <a:rPr sz="2700" spc="195" dirty="0">
                <a:latin typeface="Cambria"/>
                <a:cs typeface="Cambria"/>
              </a:rPr>
              <a:t> </a:t>
            </a:r>
            <a:r>
              <a:rPr sz="2700" spc="280" dirty="0">
                <a:latin typeface="Cambria"/>
                <a:cs typeface="Cambria"/>
              </a:rPr>
              <a:t>need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→</a:t>
            </a:r>
            <a:r>
              <a:rPr sz="2700" spc="114" dirty="0">
                <a:latin typeface="Times New Roman"/>
                <a:cs typeface="Times New Roman"/>
              </a:rPr>
              <a:t> </a:t>
            </a:r>
            <a:r>
              <a:rPr sz="2700" spc="300" dirty="0">
                <a:latin typeface="Cambria"/>
                <a:cs typeface="Cambria"/>
              </a:rPr>
              <a:t>Simple,</a:t>
            </a:r>
            <a:r>
              <a:rPr sz="2700" spc="200" dirty="0">
                <a:latin typeface="Cambria"/>
                <a:cs typeface="Cambria"/>
              </a:rPr>
              <a:t> </a:t>
            </a:r>
            <a:r>
              <a:rPr sz="2700" spc="250" dirty="0">
                <a:latin typeface="Cambria"/>
                <a:cs typeface="Cambria"/>
              </a:rPr>
              <a:t>building-</a:t>
            </a:r>
            <a:r>
              <a:rPr sz="2700" spc="225" dirty="0">
                <a:latin typeface="Cambria"/>
                <a:cs typeface="Cambria"/>
              </a:rPr>
              <a:t>focused, </a:t>
            </a:r>
            <a:r>
              <a:rPr sz="2700" spc="229" dirty="0">
                <a:latin typeface="Cambria"/>
                <a:cs typeface="Cambria"/>
              </a:rPr>
              <a:t>climate-adaptive</a:t>
            </a:r>
            <a:r>
              <a:rPr sz="2700" spc="250" dirty="0">
                <a:latin typeface="Cambria"/>
                <a:cs typeface="Cambria"/>
              </a:rPr>
              <a:t> </a:t>
            </a:r>
            <a:r>
              <a:rPr sz="2700" spc="190" dirty="0">
                <a:latin typeface="Cambria"/>
                <a:cs typeface="Cambria"/>
              </a:rPr>
              <a:t>tool</a:t>
            </a:r>
            <a:endParaRPr lang="en-US" sz="2700" spc="190" dirty="0">
              <a:latin typeface="Cambria"/>
              <a:cs typeface="Cambria"/>
            </a:endParaRPr>
          </a:p>
          <a:p>
            <a:pPr marL="12700" marR="60325" algn="just"/>
            <a:endParaRPr sz="2700" dirty="0">
              <a:latin typeface="Cambria"/>
              <a:cs typeface="Cambria"/>
            </a:endParaRPr>
          </a:p>
          <a:p>
            <a:pPr marL="469900" marR="57150" indent="-457200" algn="just">
              <a:buFont typeface="Arial" panose="020B0604020202020204" pitchFamily="34" charset="0"/>
              <a:buChar char="•"/>
            </a:pPr>
            <a:r>
              <a:rPr sz="2700" spc="420" dirty="0">
                <a:latin typeface="Cambria"/>
                <a:cs typeface="Cambria"/>
              </a:rPr>
              <a:t>Our</a:t>
            </a:r>
            <a:r>
              <a:rPr sz="2700" spc="110" dirty="0">
                <a:latin typeface="Cambria"/>
                <a:cs typeface="Cambria"/>
              </a:rPr>
              <a:t> </a:t>
            </a:r>
            <a:r>
              <a:rPr sz="2700" spc="300" dirty="0">
                <a:latin typeface="Cambria"/>
                <a:cs typeface="Cambria"/>
              </a:rPr>
              <a:t>Edge</a:t>
            </a:r>
            <a:r>
              <a:rPr sz="2700" spc="175" dirty="0">
                <a:latin typeface="Cambria"/>
                <a:cs typeface="Cambria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→</a:t>
            </a:r>
            <a:r>
              <a:rPr sz="2700" spc="95" dirty="0">
                <a:latin typeface="Times New Roman"/>
                <a:cs typeface="Times New Roman"/>
              </a:rPr>
              <a:t> </a:t>
            </a:r>
            <a:r>
              <a:rPr sz="2700" spc="350" dirty="0">
                <a:latin typeface="Cambria"/>
                <a:cs typeface="Cambria"/>
              </a:rPr>
              <a:t>From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310" dirty="0">
                <a:latin typeface="Cambria"/>
                <a:cs typeface="Cambria"/>
              </a:rPr>
              <a:t>Numbers</a:t>
            </a:r>
            <a:r>
              <a:rPr sz="2700" spc="170" dirty="0">
                <a:latin typeface="Cambria"/>
                <a:cs typeface="Cambria"/>
              </a:rPr>
              <a:t> </a:t>
            </a:r>
            <a:r>
              <a:rPr sz="2700" dirty="0">
                <a:latin typeface="SimSun-ExtB"/>
                <a:cs typeface="SimSun-ExtB"/>
              </a:rPr>
              <a:t>➝</a:t>
            </a:r>
            <a:r>
              <a:rPr sz="2700" spc="-660" dirty="0">
                <a:latin typeface="SimSun-ExtB"/>
                <a:cs typeface="SimSun-ExtB"/>
              </a:rPr>
              <a:t> </a:t>
            </a:r>
            <a:r>
              <a:rPr sz="2700" spc="285" dirty="0">
                <a:latin typeface="Cambria"/>
                <a:cs typeface="Cambria"/>
              </a:rPr>
              <a:t>To</a:t>
            </a:r>
            <a:r>
              <a:rPr sz="2700" spc="70" dirty="0">
                <a:latin typeface="Cambria"/>
                <a:cs typeface="Cambria"/>
              </a:rPr>
              <a:t> </a:t>
            </a:r>
            <a:r>
              <a:rPr sz="2700" spc="250" dirty="0">
                <a:latin typeface="Cambria"/>
                <a:cs typeface="Cambria"/>
              </a:rPr>
              <a:t>Action</a:t>
            </a:r>
            <a:r>
              <a:rPr sz="2700" spc="120" dirty="0">
                <a:latin typeface="Cambria"/>
                <a:cs typeface="Cambria"/>
              </a:rPr>
              <a:t> </a:t>
            </a:r>
            <a:r>
              <a:rPr sz="2700" spc="235" dirty="0">
                <a:latin typeface="Cambria"/>
                <a:cs typeface="Cambria"/>
              </a:rPr>
              <a:t>(Green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270" dirty="0">
                <a:latin typeface="Cambria"/>
                <a:cs typeface="Cambria"/>
              </a:rPr>
              <a:t>Score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+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290" dirty="0">
                <a:latin typeface="Cambria"/>
                <a:cs typeface="Cambria"/>
              </a:rPr>
              <a:t>Smart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190" dirty="0">
                <a:latin typeface="Cambria"/>
                <a:cs typeface="Cambria"/>
              </a:rPr>
              <a:t>Suggestions)</a:t>
            </a:r>
            <a:endParaRPr sz="2700" dirty="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4185" cy="11338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87425" y="6274308"/>
            <a:ext cx="6819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204" dirty="0">
                <a:solidFill>
                  <a:srgbClr val="686464"/>
                </a:solidFill>
                <a:latin typeface="Cambria"/>
                <a:cs typeface="Cambria"/>
              </a:rPr>
              <a:t>DoEEE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8982" y="6312407"/>
            <a:ext cx="132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7805" y="-289"/>
            <a:ext cx="7656195" cy="1286544"/>
          </a:xfrm>
          <a:prstGeom prst="rect">
            <a:avLst/>
          </a:prstGeom>
        </p:spPr>
        <p:txBody>
          <a:bodyPr vert="horz" wrap="square" lIns="0" tIns="662212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Visions</a:t>
            </a:r>
            <a:r>
              <a:rPr spc="-520" dirty="0"/>
              <a:t> </a:t>
            </a:r>
            <a:r>
              <a:rPr spc="170" dirty="0"/>
              <a:t>&amp;</a:t>
            </a:r>
            <a:r>
              <a:rPr spc="-520" dirty="0"/>
              <a:t> </a:t>
            </a:r>
            <a:r>
              <a:rPr spc="-114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503" y="1473999"/>
            <a:ext cx="8388097" cy="3879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7955">
              <a:lnSpc>
                <a:spcPct val="114999"/>
              </a:lnSpc>
              <a:spcBef>
                <a:spcPts val="100"/>
              </a:spcBef>
            </a:pPr>
            <a:r>
              <a:rPr sz="2500" b="1" spc="160" dirty="0">
                <a:latin typeface="Cambria"/>
                <a:cs typeface="Cambria"/>
              </a:rPr>
              <a:t>Vision</a:t>
            </a:r>
            <a:r>
              <a:rPr sz="2500" spc="160" dirty="0">
                <a:latin typeface="Cambria"/>
                <a:cs typeface="Cambria"/>
              </a:rPr>
              <a:t>: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285" dirty="0">
                <a:latin typeface="Cambria"/>
                <a:cs typeface="Cambria"/>
              </a:rPr>
              <a:t>Empower</a:t>
            </a:r>
            <a:r>
              <a:rPr sz="2500" spc="110" dirty="0">
                <a:latin typeface="Cambria"/>
                <a:cs typeface="Cambria"/>
              </a:rPr>
              <a:t> </a:t>
            </a:r>
            <a:r>
              <a:rPr sz="2500" spc="265" dirty="0">
                <a:latin typeface="Cambria"/>
                <a:cs typeface="Cambria"/>
              </a:rPr>
              <a:t>communities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195" dirty="0">
                <a:latin typeface="Cambria"/>
                <a:cs typeface="Cambria"/>
              </a:rPr>
              <a:t>to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210" dirty="0">
                <a:latin typeface="Cambria"/>
                <a:cs typeface="Cambria"/>
              </a:rPr>
              <a:t>measure, understand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465" dirty="0">
                <a:latin typeface="Cambria"/>
                <a:cs typeface="Cambria"/>
              </a:rPr>
              <a:t>&amp;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215" dirty="0">
                <a:latin typeface="Cambria"/>
                <a:cs typeface="Cambria"/>
              </a:rPr>
              <a:t>reduce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229" dirty="0">
                <a:latin typeface="Cambria"/>
                <a:cs typeface="Cambria"/>
              </a:rPr>
              <a:t>building</a:t>
            </a:r>
            <a:r>
              <a:rPr sz="2500" spc="145" dirty="0">
                <a:latin typeface="Cambria"/>
                <a:cs typeface="Cambria"/>
              </a:rPr>
              <a:t> </a:t>
            </a:r>
            <a:r>
              <a:rPr sz="2500" spc="200" dirty="0">
                <a:latin typeface="Cambria"/>
                <a:cs typeface="Cambria"/>
              </a:rPr>
              <a:t>emissions</a:t>
            </a:r>
            <a:endParaRPr sz="2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500" b="1" spc="140" dirty="0">
                <a:latin typeface="Cambria"/>
                <a:cs typeface="Cambria"/>
              </a:rPr>
              <a:t>Objectives:</a:t>
            </a:r>
            <a:endParaRPr sz="2500" dirty="0">
              <a:latin typeface="Cambria"/>
              <a:cs typeface="Cambria"/>
            </a:endParaRPr>
          </a:p>
          <a:p>
            <a:pPr marL="469265" indent="-304800">
              <a:lnSpc>
                <a:spcPct val="100000"/>
              </a:lnSpc>
              <a:spcBef>
                <a:spcPts val="1650"/>
              </a:spcBef>
              <a:buSzPct val="40000"/>
              <a:buFont typeface="Microsoft Sans Serif"/>
              <a:buChar char="●"/>
              <a:tabLst>
                <a:tab pos="469265" algn="l"/>
              </a:tabLst>
            </a:pPr>
            <a:r>
              <a:rPr sz="2500" spc="195" dirty="0">
                <a:latin typeface="Cambria"/>
                <a:cs typeface="Cambria"/>
              </a:rPr>
              <a:t>Easy-</a:t>
            </a:r>
            <a:r>
              <a:rPr sz="2500" spc="210" dirty="0">
                <a:latin typeface="Cambria"/>
                <a:cs typeface="Cambria"/>
              </a:rPr>
              <a:t>to-</a:t>
            </a:r>
            <a:r>
              <a:rPr sz="2500" spc="254" dirty="0">
                <a:latin typeface="Cambria"/>
                <a:cs typeface="Cambria"/>
              </a:rPr>
              <a:t>use</a:t>
            </a:r>
            <a:r>
              <a:rPr sz="2500" spc="105" dirty="0">
                <a:latin typeface="Cambria"/>
                <a:cs typeface="Cambria"/>
              </a:rPr>
              <a:t> </a:t>
            </a:r>
            <a:r>
              <a:rPr sz="2500" spc="200" dirty="0">
                <a:latin typeface="Cambria"/>
                <a:cs typeface="Cambria"/>
              </a:rPr>
              <a:t>web</a:t>
            </a:r>
            <a:r>
              <a:rPr sz="2500" spc="180" dirty="0">
                <a:latin typeface="Cambria"/>
                <a:cs typeface="Cambria"/>
              </a:rPr>
              <a:t> </a:t>
            </a:r>
            <a:r>
              <a:rPr sz="2500" spc="225" dirty="0">
                <a:latin typeface="Cambria"/>
                <a:cs typeface="Cambria"/>
              </a:rPr>
              <a:t>app</a:t>
            </a:r>
            <a:endParaRPr sz="2500" dirty="0">
              <a:latin typeface="Cambria"/>
              <a:cs typeface="Cambria"/>
            </a:endParaRPr>
          </a:p>
          <a:p>
            <a:pPr marL="469900" marR="254000" indent="-305435">
              <a:lnSpc>
                <a:spcPct val="114999"/>
              </a:lnSpc>
              <a:buSzPct val="40000"/>
              <a:buFont typeface="Microsoft Sans Serif"/>
              <a:buChar char="●"/>
              <a:tabLst>
                <a:tab pos="469900" algn="l"/>
              </a:tabLst>
            </a:pPr>
            <a:r>
              <a:rPr sz="2500" spc="200" dirty="0">
                <a:latin typeface="Cambria"/>
                <a:cs typeface="Cambria"/>
              </a:rPr>
              <a:t>Personalized</a:t>
            </a:r>
            <a:r>
              <a:rPr sz="2500" spc="180" dirty="0">
                <a:latin typeface="Cambria"/>
                <a:cs typeface="Cambria"/>
              </a:rPr>
              <a:t> </a:t>
            </a:r>
            <a:r>
              <a:rPr sz="2500" spc="185" dirty="0">
                <a:latin typeface="Cambria"/>
                <a:cs typeface="Cambria"/>
              </a:rPr>
              <a:t>solutions </a:t>
            </a:r>
            <a:r>
              <a:rPr sz="2500" spc="225" dirty="0">
                <a:latin typeface="Cambria"/>
                <a:cs typeface="Cambria"/>
              </a:rPr>
              <a:t>for</a:t>
            </a:r>
            <a:r>
              <a:rPr sz="2500" spc="114" dirty="0">
                <a:latin typeface="Cambria"/>
                <a:cs typeface="Cambria"/>
              </a:rPr>
              <a:t> </a:t>
            </a:r>
            <a:r>
              <a:rPr sz="2500" spc="229" dirty="0">
                <a:latin typeface="Cambria"/>
                <a:cs typeface="Cambria"/>
              </a:rPr>
              <a:t>each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220" dirty="0">
                <a:latin typeface="Cambria"/>
                <a:cs typeface="Cambria"/>
              </a:rPr>
              <a:t>building </a:t>
            </a:r>
            <a:r>
              <a:rPr sz="2500" spc="215" dirty="0">
                <a:latin typeface="Cambria"/>
                <a:cs typeface="Cambria"/>
              </a:rPr>
              <a:t>type</a:t>
            </a:r>
            <a:endParaRPr sz="2500" dirty="0">
              <a:latin typeface="Cambria"/>
              <a:cs typeface="Cambria"/>
            </a:endParaRPr>
          </a:p>
          <a:p>
            <a:pPr marL="469900" marR="490855" indent="-305435">
              <a:lnSpc>
                <a:spcPct val="114999"/>
              </a:lnSpc>
              <a:buSzPct val="40000"/>
              <a:buFont typeface="Microsoft Sans Serif"/>
              <a:buChar char="●"/>
              <a:tabLst>
                <a:tab pos="469900" algn="l"/>
              </a:tabLst>
            </a:pPr>
            <a:r>
              <a:rPr sz="2500" spc="275" dirty="0">
                <a:latin typeface="Cambria"/>
                <a:cs typeface="Cambria"/>
              </a:rPr>
              <a:t>Gamified</a:t>
            </a:r>
            <a:r>
              <a:rPr sz="2500" spc="170" dirty="0">
                <a:latin typeface="Cambria"/>
                <a:cs typeface="Cambria"/>
              </a:rPr>
              <a:t> </a:t>
            </a:r>
            <a:r>
              <a:rPr sz="2500" spc="150" dirty="0">
                <a:latin typeface="Cambria"/>
                <a:cs typeface="Cambria"/>
              </a:rPr>
              <a:t>awareness</a:t>
            </a:r>
            <a:r>
              <a:rPr sz="2500" spc="100" dirty="0">
                <a:latin typeface="Cambria"/>
                <a:cs typeface="Cambria"/>
              </a:rPr>
              <a:t> </a:t>
            </a:r>
            <a:r>
              <a:rPr sz="2500" spc="190" dirty="0">
                <a:latin typeface="Cambria"/>
                <a:cs typeface="Cambria"/>
              </a:rPr>
              <a:t>via</a:t>
            </a:r>
            <a:r>
              <a:rPr sz="2500" spc="140" dirty="0">
                <a:latin typeface="Cambria"/>
                <a:cs typeface="Cambria"/>
              </a:rPr>
              <a:t> </a:t>
            </a:r>
            <a:r>
              <a:rPr sz="2500" spc="300" dirty="0">
                <a:latin typeface="Cambria"/>
                <a:cs typeface="Cambria"/>
              </a:rPr>
              <a:t>Green</a:t>
            </a:r>
            <a:r>
              <a:rPr sz="2500" spc="170" dirty="0">
                <a:latin typeface="Cambria"/>
                <a:cs typeface="Cambria"/>
              </a:rPr>
              <a:t> </a:t>
            </a:r>
            <a:r>
              <a:rPr sz="2500" spc="240" dirty="0">
                <a:latin typeface="Cambria"/>
                <a:cs typeface="Cambria"/>
              </a:rPr>
              <a:t>Score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415" dirty="0">
                <a:latin typeface="Cambria"/>
                <a:cs typeface="Cambria"/>
              </a:rPr>
              <a:t>&amp; </a:t>
            </a:r>
            <a:r>
              <a:rPr sz="2500" spc="190" dirty="0">
                <a:latin typeface="Cambria"/>
                <a:cs typeface="Cambria"/>
              </a:rPr>
              <a:t>badges</a:t>
            </a:r>
            <a:endParaRPr sz="2500" dirty="0">
              <a:latin typeface="Cambria"/>
              <a:cs typeface="Cambria"/>
            </a:endParaRPr>
          </a:p>
          <a:p>
            <a:pPr marL="469265" indent="-304800">
              <a:lnSpc>
                <a:spcPct val="100000"/>
              </a:lnSpc>
              <a:spcBef>
                <a:spcPts val="450"/>
              </a:spcBef>
              <a:buSzPct val="40000"/>
              <a:buFont typeface="Microsoft Sans Serif"/>
              <a:buChar char="●"/>
              <a:tabLst>
                <a:tab pos="469265" algn="l"/>
              </a:tabLst>
            </a:pPr>
            <a:r>
              <a:rPr sz="2500" spc="204" dirty="0">
                <a:latin typeface="Cambria"/>
                <a:cs typeface="Cambria"/>
              </a:rPr>
              <a:t>Scalable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195" dirty="0">
                <a:latin typeface="Cambria"/>
                <a:cs typeface="Cambria"/>
              </a:rPr>
              <a:t>to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229" dirty="0">
                <a:latin typeface="Cambria"/>
                <a:cs typeface="Cambria"/>
              </a:rPr>
              <a:t>campuses,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145" dirty="0">
                <a:latin typeface="Cambria"/>
                <a:cs typeface="Cambria"/>
              </a:rPr>
              <a:t>cities,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229" dirty="0">
                <a:latin typeface="Cambria"/>
                <a:cs typeface="Cambria"/>
              </a:rPr>
              <a:t>governments</a:t>
            </a:r>
            <a:endParaRPr sz="25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1054185" cy="11338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425" y="6172962"/>
            <a:ext cx="2699385" cy="4597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5"/>
              </a:spcBef>
            </a:pPr>
            <a:r>
              <a:rPr sz="1400" spc="155" dirty="0">
                <a:solidFill>
                  <a:srgbClr val="686464"/>
                </a:solidFill>
                <a:latin typeface="Cambria"/>
                <a:cs typeface="Cambria"/>
              </a:rPr>
              <a:t>School</a:t>
            </a:r>
            <a:r>
              <a:rPr sz="1400" spc="105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60" dirty="0">
                <a:solidFill>
                  <a:srgbClr val="686464"/>
                </a:solidFill>
                <a:latin typeface="Cambria"/>
                <a:cs typeface="Cambria"/>
              </a:rPr>
              <a:t>of</a:t>
            </a:r>
            <a:r>
              <a:rPr sz="1400" spc="110" dirty="0">
                <a:solidFill>
                  <a:srgbClr val="686464"/>
                </a:solidFill>
                <a:latin typeface="Cambria"/>
                <a:cs typeface="Cambria"/>
              </a:rPr>
              <a:t> Electronics</a:t>
            </a:r>
            <a:r>
              <a:rPr sz="1400" spc="105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14" dirty="0">
                <a:solidFill>
                  <a:srgbClr val="686464"/>
                </a:solidFill>
                <a:latin typeface="Cambria"/>
                <a:cs typeface="Cambria"/>
              </a:rPr>
              <a:t>and </a:t>
            </a:r>
            <a:r>
              <a:rPr sz="1400" spc="175" dirty="0">
                <a:solidFill>
                  <a:srgbClr val="686464"/>
                </a:solidFill>
                <a:latin typeface="Cambria"/>
                <a:cs typeface="Cambria"/>
              </a:rPr>
              <a:t>Communication</a:t>
            </a:r>
            <a:r>
              <a:rPr sz="1400" spc="90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25" dirty="0">
                <a:solidFill>
                  <a:srgbClr val="686464"/>
                </a:solidFill>
                <a:latin typeface="Cambria"/>
                <a:cs typeface="Cambria"/>
              </a:rPr>
              <a:t>Engineering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869" y="253029"/>
            <a:ext cx="8158538" cy="1163173"/>
          </a:xfrm>
          <a:prstGeom prst="rect">
            <a:avLst/>
          </a:prstGeom>
        </p:spPr>
        <p:txBody>
          <a:bodyPr vert="horz" wrap="square" lIns="0" tIns="176564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spc="-85" dirty="0"/>
              <a:t>What</a:t>
            </a:r>
            <a:r>
              <a:rPr sz="3200" spc="-470" dirty="0"/>
              <a:t> </a:t>
            </a:r>
            <a:r>
              <a:rPr sz="3200" spc="-160" dirty="0"/>
              <a:t>makes</a:t>
            </a:r>
            <a:r>
              <a:rPr sz="3200" spc="-470" dirty="0"/>
              <a:t> </a:t>
            </a:r>
            <a:r>
              <a:rPr sz="3200" spc="-130" dirty="0"/>
              <a:t>us</a:t>
            </a:r>
            <a:r>
              <a:rPr sz="3200" spc="-470" dirty="0"/>
              <a:t> </a:t>
            </a:r>
            <a:r>
              <a:rPr sz="3200" spc="-80" dirty="0"/>
              <a:t>different</a:t>
            </a:r>
            <a:r>
              <a:rPr sz="3200" spc="-470" dirty="0"/>
              <a:t> </a:t>
            </a:r>
            <a:br>
              <a:rPr lang="en-US" sz="3200" spc="-470" dirty="0"/>
            </a:br>
            <a:r>
              <a:rPr sz="3200" spc="-114" dirty="0"/>
              <a:t>(proposed </a:t>
            </a:r>
            <a:r>
              <a:rPr sz="3200" spc="-70" dirty="0"/>
              <a:t>system)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416202"/>
            <a:ext cx="8458199" cy="40927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0840">
              <a:lnSpc>
                <a:spcPct val="114399"/>
              </a:lnSpc>
              <a:spcBef>
                <a:spcPts val="100"/>
              </a:spcBef>
            </a:pPr>
            <a:r>
              <a:rPr sz="2050" b="1" spc="125" dirty="0">
                <a:latin typeface="Cambria"/>
                <a:cs typeface="Cambria"/>
              </a:rPr>
              <a:t>Tailored</a:t>
            </a:r>
            <a:r>
              <a:rPr sz="2050" b="1" spc="100" dirty="0">
                <a:latin typeface="Cambria"/>
                <a:cs typeface="Cambria"/>
              </a:rPr>
              <a:t> </a:t>
            </a:r>
            <a:r>
              <a:rPr sz="2050" b="1" spc="90" dirty="0">
                <a:latin typeface="Cambria"/>
                <a:cs typeface="Cambria"/>
              </a:rPr>
              <a:t>Strategies</a:t>
            </a:r>
            <a:r>
              <a:rPr sz="2050" b="1" spc="135" dirty="0">
                <a:latin typeface="Cambria"/>
                <a:cs typeface="Cambria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→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b="1" spc="165" dirty="0">
                <a:latin typeface="Cambria"/>
                <a:cs typeface="Cambria"/>
              </a:rPr>
              <a:t>Building</a:t>
            </a:r>
            <a:r>
              <a:rPr sz="2050" b="1" spc="14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+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b="1" spc="150" dirty="0">
                <a:latin typeface="Cambria"/>
                <a:cs typeface="Cambria"/>
              </a:rPr>
              <a:t>climate-</a:t>
            </a:r>
            <a:r>
              <a:rPr sz="2050" b="1" spc="175" dirty="0">
                <a:latin typeface="Cambria"/>
                <a:cs typeface="Cambria"/>
              </a:rPr>
              <a:t>zone</a:t>
            </a:r>
            <a:r>
              <a:rPr sz="2050" b="1" spc="100" dirty="0">
                <a:latin typeface="Cambria"/>
                <a:cs typeface="Cambria"/>
              </a:rPr>
              <a:t> </a:t>
            </a:r>
            <a:r>
              <a:rPr sz="2050" b="1" spc="90" dirty="0">
                <a:latin typeface="Cambria"/>
                <a:cs typeface="Cambria"/>
              </a:rPr>
              <a:t>based </a:t>
            </a:r>
            <a:r>
              <a:rPr sz="2050" b="1" spc="80" dirty="0">
                <a:latin typeface="Cambria"/>
                <a:cs typeface="Cambria"/>
              </a:rPr>
              <a:t>tips</a:t>
            </a:r>
            <a:r>
              <a:rPr sz="2050" b="1" spc="140" dirty="0">
                <a:latin typeface="Cambria"/>
                <a:cs typeface="Cambria"/>
              </a:rPr>
              <a:t> </a:t>
            </a:r>
            <a:r>
              <a:rPr sz="2050" spc="90" dirty="0">
                <a:latin typeface="Cambria"/>
                <a:cs typeface="Cambria"/>
              </a:rPr>
              <a:t>(e.g.,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55" dirty="0">
                <a:latin typeface="Cambria"/>
                <a:cs typeface="Cambria"/>
              </a:rPr>
              <a:t>insulation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85" dirty="0">
                <a:latin typeface="Cambria"/>
                <a:cs typeface="Cambria"/>
              </a:rPr>
              <a:t>for</a:t>
            </a:r>
            <a:r>
              <a:rPr sz="2050" spc="90" dirty="0">
                <a:latin typeface="Cambria"/>
                <a:cs typeface="Cambria"/>
              </a:rPr>
              <a:t> </a:t>
            </a:r>
            <a:r>
              <a:rPr sz="2050" spc="180" dirty="0">
                <a:latin typeface="Cambria"/>
                <a:cs typeface="Cambria"/>
              </a:rPr>
              <a:t>cold,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20" dirty="0">
                <a:latin typeface="Cambria"/>
                <a:cs typeface="Cambria"/>
              </a:rPr>
              <a:t>solar</a:t>
            </a:r>
            <a:r>
              <a:rPr sz="2050" spc="90" dirty="0">
                <a:latin typeface="Cambria"/>
                <a:cs typeface="Cambria"/>
              </a:rPr>
              <a:t> </a:t>
            </a:r>
            <a:r>
              <a:rPr sz="2050" spc="175" dirty="0">
                <a:latin typeface="Cambria"/>
                <a:cs typeface="Cambria"/>
              </a:rPr>
              <a:t>shading</a:t>
            </a:r>
            <a:r>
              <a:rPr sz="2050" spc="114" dirty="0">
                <a:latin typeface="Cambria"/>
                <a:cs typeface="Cambria"/>
              </a:rPr>
              <a:t> </a:t>
            </a:r>
            <a:r>
              <a:rPr sz="2050" spc="185" dirty="0">
                <a:latin typeface="Cambria"/>
                <a:cs typeface="Cambria"/>
              </a:rPr>
              <a:t>for</a:t>
            </a:r>
            <a:r>
              <a:rPr sz="2050" spc="90" dirty="0">
                <a:latin typeface="Cambria"/>
                <a:cs typeface="Cambria"/>
              </a:rPr>
              <a:t> </a:t>
            </a:r>
            <a:r>
              <a:rPr sz="2050" spc="100" dirty="0">
                <a:latin typeface="Cambria"/>
                <a:cs typeface="Cambria"/>
              </a:rPr>
              <a:t>hot).</a:t>
            </a:r>
            <a:endParaRPr sz="2050" dirty="0">
              <a:latin typeface="Cambria"/>
              <a:cs typeface="Cambria"/>
            </a:endParaRPr>
          </a:p>
          <a:p>
            <a:pPr marL="469900" marR="97790" indent="-385445">
              <a:lnSpc>
                <a:spcPct val="114399"/>
              </a:lnSpc>
              <a:spcBef>
                <a:spcPts val="12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2050" b="1" spc="220" dirty="0">
                <a:latin typeface="Cambria"/>
                <a:cs typeface="Cambria"/>
              </a:rPr>
              <a:t>What-</a:t>
            </a:r>
            <a:r>
              <a:rPr sz="2050" b="1" spc="195" dirty="0">
                <a:latin typeface="Cambria"/>
                <a:cs typeface="Cambria"/>
              </a:rPr>
              <a:t>If</a:t>
            </a:r>
            <a:r>
              <a:rPr sz="2050" b="1" spc="95" dirty="0">
                <a:latin typeface="Cambria"/>
                <a:cs typeface="Cambria"/>
              </a:rPr>
              <a:t> </a:t>
            </a:r>
            <a:r>
              <a:rPr sz="2050" b="1" spc="130" dirty="0">
                <a:latin typeface="Cambria"/>
                <a:cs typeface="Cambria"/>
              </a:rPr>
              <a:t>Scenarios</a:t>
            </a:r>
            <a:r>
              <a:rPr sz="2050" b="1" spc="140" dirty="0">
                <a:latin typeface="Cambria"/>
                <a:cs typeface="Cambria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→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Cambria"/>
                <a:cs typeface="Cambria"/>
              </a:rPr>
              <a:t>Test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170" dirty="0">
                <a:latin typeface="Cambria"/>
                <a:cs typeface="Cambria"/>
              </a:rPr>
              <a:t>upgrades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20" dirty="0">
                <a:latin typeface="Cambria"/>
                <a:cs typeface="Cambria"/>
              </a:rPr>
              <a:t>like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254" dirty="0">
                <a:latin typeface="Cambria"/>
                <a:cs typeface="Cambria"/>
              </a:rPr>
              <a:t>LEDs,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00" dirty="0">
                <a:latin typeface="Cambria"/>
                <a:cs typeface="Cambria"/>
              </a:rPr>
              <a:t>solar, </a:t>
            </a:r>
            <a:r>
              <a:rPr sz="2050" spc="155" dirty="0">
                <a:latin typeface="Cambria"/>
                <a:cs typeface="Cambria"/>
              </a:rPr>
              <a:t>insulation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365" dirty="0">
                <a:latin typeface="Cambria"/>
                <a:cs typeface="Cambria"/>
              </a:rPr>
              <a:t>&amp;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20" dirty="0">
                <a:latin typeface="Cambria"/>
                <a:cs typeface="Cambria"/>
              </a:rPr>
              <a:t>see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40" dirty="0">
                <a:latin typeface="Cambria"/>
                <a:cs typeface="Cambria"/>
              </a:rPr>
              <a:t>instant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265" dirty="0">
                <a:latin typeface="Cambria"/>
                <a:cs typeface="Cambria"/>
              </a:rPr>
              <a:t>CO₂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+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40" dirty="0">
                <a:latin typeface="Cambria"/>
                <a:cs typeface="Cambria"/>
              </a:rPr>
              <a:t>cost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14" dirty="0">
                <a:latin typeface="Cambria"/>
                <a:cs typeface="Cambria"/>
              </a:rPr>
              <a:t>savings.</a:t>
            </a:r>
            <a:endParaRPr sz="2050" dirty="0">
              <a:latin typeface="Cambria"/>
              <a:cs typeface="Cambria"/>
            </a:endParaRPr>
          </a:p>
          <a:p>
            <a:pPr marL="469900" marR="603250" indent="-385445">
              <a:lnSpc>
                <a:spcPct val="114399"/>
              </a:lnSpc>
              <a:spcBef>
                <a:spcPts val="5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2050" b="1" spc="155" dirty="0">
                <a:latin typeface="Cambria"/>
                <a:cs typeface="Cambria"/>
              </a:rPr>
              <a:t>Localized</a:t>
            </a:r>
            <a:r>
              <a:rPr sz="2050" b="1" spc="95" dirty="0">
                <a:latin typeface="Cambria"/>
                <a:cs typeface="Cambria"/>
              </a:rPr>
              <a:t> </a:t>
            </a:r>
            <a:r>
              <a:rPr sz="2050" b="1" spc="204" dirty="0">
                <a:latin typeface="Cambria"/>
                <a:cs typeface="Cambria"/>
              </a:rPr>
              <a:t>Carbon</a:t>
            </a:r>
            <a:r>
              <a:rPr sz="2050" b="1" spc="100" dirty="0">
                <a:latin typeface="Cambria"/>
                <a:cs typeface="Cambria"/>
              </a:rPr>
              <a:t> </a:t>
            </a:r>
            <a:r>
              <a:rPr sz="2050" b="1" spc="165" dirty="0">
                <a:latin typeface="Cambria"/>
                <a:cs typeface="Cambria"/>
              </a:rPr>
              <a:t>Oﬀset</a:t>
            </a:r>
            <a:r>
              <a:rPr sz="2050" b="1" spc="135" dirty="0">
                <a:latin typeface="Cambria"/>
                <a:cs typeface="Cambria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→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165" dirty="0">
                <a:latin typeface="Cambria"/>
                <a:cs typeface="Cambria"/>
              </a:rPr>
              <a:t>Suggest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70" dirty="0">
                <a:latin typeface="Cambria"/>
                <a:cs typeface="Cambria"/>
              </a:rPr>
              <a:t>nearby </a:t>
            </a:r>
            <a:r>
              <a:rPr sz="2050" spc="160" dirty="0">
                <a:latin typeface="Cambria"/>
                <a:cs typeface="Cambria"/>
              </a:rPr>
              <a:t>plantation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130" dirty="0">
                <a:latin typeface="Cambria"/>
                <a:cs typeface="Cambria"/>
              </a:rPr>
              <a:t>drives</a:t>
            </a:r>
            <a:r>
              <a:rPr sz="2050" spc="150" dirty="0">
                <a:latin typeface="Cambria"/>
                <a:cs typeface="Cambria"/>
              </a:rPr>
              <a:t> </a:t>
            </a:r>
            <a:r>
              <a:rPr sz="2050" spc="365" dirty="0">
                <a:latin typeface="Cambria"/>
                <a:cs typeface="Cambria"/>
              </a:rPr>
              <a:t>&amp;</a:t>
            </a:r>
            <a:r>
              <a:rPr sz="2050" spc="145" dirty="0">
                <a:latin typeface="Cambria"/>
                <a:cs typeface="Cambria"/>
              </a:rPr>
              <a:t> renewable</a:t>
            </a:r>
            <a:r>
              <a:rPr sz="2050" spc="150" dirty="0">
                <a:latin typeface="Cambria"/>
                <a:cs typeface="Cambria"/>
              </a:rPr>
              <a:t> </a:t>
            </a:r>
            <a:r>
              <a:rPr sz="2050" spc="135" dirty="0">
                <a:latin typeface="Cambria"/>
                <a:cs typeface="Cambria"/>
              </a:rPr>
              <a:t>projects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185" dirty="0">
                <a:latin typeface="Cambria"/>
                <a:cs typeface="Cambria"/>
              </a:rPr>
              <a:t>for</a:t>
            </a:r>
            <a:r>
              <a:rPr sz="2050" spc="100" dirty="0">
                <a:latin typeface="Cambria"/>
                <a:cs typeface="Cambria"/>
              </a:rPr>
              <a:t> </a:t>
            </a:r>
            <a:r>
              <a:rPr sz="2050" spc="135" dirty="0">
                <a:latin typeface="Cambria"/>
                <a:cs typeface="Cambria"/>
              </a:rPr>
              <a:t>direct </a:t>
            </a:r>
            <a:r>
              <a:rPr sz="2050" spc="250" dirty="0">
                <a:latin typeface="Cambria"/>
                <a:cs typeface="Cambria"/>
              </a:rPr>
              <a:t>community</a:t>
            </a:r>
            <a:r>
              <a:rPr sz="2050" spc="110" dirty="0">
                <a:latin typeface="Cambria"/>
                <a:cs typeface="Cambria"/>
              </a:rPr>
              <a:t> </a:t>
            </a:r>
            <a:r>
              <a:rPr sz="2050" spc="180" dirty="0">
                <a:latin typeface="Cambria"/>
                <a:cs typeface="Cambria"/>
              </a:rPr>
              <a:t>impact.</a:t>
            </a:r>
            <a:endParaRPr sz="2050" dirty="0">
              <a:latin typeface="Cambria"/>
              <a:cs typeface="Cambria"/>
            </a:endParaRPr>
          </a:p>
          <a:p>
            <a:pPr marL="469900" marR="621665" indent="-385445">
              <a:lnSpc>
                <a:spcPct val="114399"/>
              </a:lnSpc>
              <a:buFont typeface="Microsoft Sans Serif"/>
              <a:buChar char="●"/>
              <a:tabLst>
                <a:tab pos="469900" algn="l"/>
              </a:tabLst>
            </a:pPr>
            <a:r>
              <a:rPr sz="2050" b="1" spc="190" dirty="0">
                <a:latin typeface="Cambria"/>
                <a:cs typeface="Cambria"/>
              </a:rPr>
              <a:t>Green</a:t>
            </a:r>
            <a:r>
              <a:rPr sz="2050" b="1" spc="80" dirty="0">
                <a:latin typeface="Cambria"/>
                <a:cs typeface="Cambria"/>
              </a:rPr>
              <a:t> </a:t>
            </a:r>
            <a:r>
              <a:rPr sz="2050" b="1" spc="155" dirty="0">
                <a:latin typeface="Cambria"/>
                <a:cs typeface="Cambria"/>
              </a:rPr>
              <a:t>Score</a:t>
            </a:r>
            <a:r>
              <a:rPr sz="2050" b="1" spc="85" dirty="0">
                <a:latin typeface="Cambria"/>
                <a:cs typeface="Cambria"/>
              </a:rPr>
              <a:t> </a:t>
            </a:r>
            <a:r>
              <a:rPr sz="2050" b="1" dirty="0">
                <a:latin typeface="Cambria"/>
                <a:cs typeface="Cambria"/>
              </a:rPr>
              <a:t>+</a:t>
            </a:r>
            <a:r>
              <a:rPr sz="2050" b="1" spc="80" dirty="0">
                <a:latin typeface="Cambria"/>
                <a:cs typeface="Cambria"/>
              </a:rPr>
              <a:t> </a:t>
            </a:r>
            <a:r>
              <a:rPr sz="2050" b="1" spc="145" dirty="0">
                <a:latin typeface="Cambria"/>
                <a:cs typeface="Cambria"/>
              </a:rPr>
              <a:t>Leaderboard</a:t>
            </a:r>
            <a:r>
              <a:rPr sz="2050" b="1" spc="105" dirty="0">
                <a:latin typeface="Cambria"/>
                <a:cs typeface="Cambria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→</a:t>
            </a:r>
            <a:r>
              <a:rPr sz="2050" spc="65" dirty="0">
                <a:latin typeface="Times New Roman"/>
                <a:cs typeface="Times New Roman"/>
              </a:rPr>
              <a:t> </a:t>
            </a:r>
            <a:r>
              <a:rPr sz="2050" spc="170" dirty="0">
                <a:latin typeface="Cambria"/>
                <a:cs typeface="Cambria"/>
              </a:rPr>
              <a:t>Buildings</a:t>
            </a:r>
            <a:r>
              <a:rPr sz="2050" spc="120" dirty="0">
                <a:latin typeface="Cambria"/>
                <a:cs typeface="Cambria"/>
              </a:rPr>
              <a:t> </a:t>
            </a:r>
            <a:r>
              <a:rPr sz="2050" spc="150" dirty="0">
                <a:latin typeface="Cambria"/>
                <a:cs typeface="Cambria"/>
              </a:rPr>
              <a:t>ranked </a:t>
            </a:r>
            <a:r>
              <a:rPr sz="2050" spc="204" dirty="0">
                <a:latin typeface="Cambria"/>
                <a:cs typeface="Cambria"/>
              </a:rPr>
              <a:t>Bronze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30" dirty="0">
                <a:latin typeface="Cambria"/>
                <a:cs typeface="Cambria"/>
              </a:rPr>
              <a:t>,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55" dirty="0">
                <a:latin typeface="Cambria"/>
                <a:cs typeface="Cambria"/>
              </a:rPr>
              <a:t>Silver</a:t>
            </a:r>
            <a:r>
              <a:rPr sz="2050" spc="85" dirty="0">
                <a:latin typeface="Cambria"/>
                <a:cs typeface="Cambria"/>
              </a:rPr>
              <a:t> </a:t>
            </a:r>
            <a:r>
              <a:rPr sz="2050" spc="130" dirty="0">
                <a:latin typeface="Cambria"/>
                <a:cs typeface="Cambria"/>
              </a:rPr>
              <a:t>,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270" dirty="0">
                <a:latin typeface="Cambria"/>
                <a:cs typeface="Cambria"/>
              </a:rPr>
              <a:t>Gold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95" dirty="0">
                <a:latin typeface="Cambria"/>
                <a:cs typeface="Cambria"/>
              </a:rPr>
              <a:t>;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65" dirty="0">
                <a:latin typeface="Cambria"/>
                <a:cs typeface="Cambria"/>
              </a:rPr>
              <a:t>motivates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spc="160" dirty="0">
                <a:latin typeface="Cambria"/>
                <a:cs typeface="Cambria"/>
              </a:rPr>
              <a:t>healthy </a:t>
            </a:r>
            <a:r>
              <a:rPr sz="2050" spc="180" dirty="0">
                <a:latin typeface="Cambria"/>
                <a:cs typeface="Cambria"/>
              </a:rPr>
              <a:t>competition.</a:t>
            </a:r>
            <a:endParaRPr sz="2050" dirty="0">
              <a:latin typeface="Cambria"/>
              <a:cs typeface="Cambria"/>
            </a:endParaRPr>
          </a:p>
          <a:p>
            <a:pPr marL="469900" marR="5080" indent="-385445">
              <a:lnSpc>
                <a:spcPct val="114399"/>
              </a:lnSpc>
              <a:buFont typeface="Microsoft Sans Serif"/>
              <a:buChar char="●"/>
              <a:tabLst>
                <a:tab pos="469900" algn="l"/>
              </a:tabLst>
            </a:pPr>
            <a:r>
              <a:rPr sz="2050" b="1" spc="254" dirty="0">
                <a:latin typeface="Cambria"/>
                <a:cs typeface="Cambria"/>
              </a:rPr>
              <a:t>Community</a:t>
            </a:r>
            <a:r>
              <a:rPr sz="2050" b="1" spc="30" dirty="0">
                <a:latin typeface="Cambria"/>
                <a:cs typeface="Cambria"/>
              </a:rPr>
              <a:t> </a:t>
            </a:r>
            <a:r>
              <a:rPr sz="2050" b="1" spc="165" dirty="0">
                <a:latin typeface="Cambria"/>
                <a:cs typeface="Cambria"/>
              </a:rPr>
              <a:t>Sharing</a:t>
            </a:r>
            <a:r>
              <a:rPr sz="2050" b="1" spc="130" dirty="0">
                <a:latin typeface="Cambria"/>
                <a:cs typeface="Cambria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→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spc="195" dirty="0">
                <a:latin typeface="Cambria"/>
                <a:cs typeface="Cambria"/>
              </a:rPr>
              <a:t>Generate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365" dirty="0">
                <a:latin typeface="Cambria"/>
                <a:cs typeface="Cambria"/>
              </a:rPr>
              <a:t>&amp;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140" dirty="0">
                <a:latin typeface="Cambria"/>
                <a:cs typeface="Cambria"/>
              </a:rPr>
              <a:t>share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220" dirty="0">
                <a:latin typeface="Cambria"/>
                <a:cs typeface="Cambria"/>
              </a:rPr>
              <a:t>Green </a:t>
            </a:r>
            <a:r>
              <a:rPr sz="2050" spc="195" dirty="0">
                <a:latin typeface="Cambria"/>
                <a:cs typeface="Cambria"/>
              </a:rPr>
              <a:t>Score</a:t>
            </a:r>
            <a:r>
              <a:rPr sz="2050" spc="130" dirty="0">
                <a:latin typeface="Cambria"/>
                <a:cs typeface="Cambria"/>
              </a:rPr>
              <a:t> </a:t>
            </a:r>
            <a:r>
              <a:rPr sz="2050" spc="135" dirty="0">
                <a:latin typeface="Cambria"/>
                <a:cs typeface="Cambria"/>
              </a:rPr>
              <a:t>cards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245" dirty="0">
                <a:latin typeface="Cambria"/>
                <a:cs typeface="Cambria"/>
              </a:rPr>
              <a:t>on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114" dirty="0">
                <a:latin typeface="Cambria"/>
                <a:cs typeface="Cambria"/>
              </a:rPr>
              <a:t>portals/social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225" dirty="0">
                <a:latin typeface="Cambria"/>
                <a:cs typeface="Cambria"/>
              </a:rPr>
              <a:t>media</a:t>
            </a:r>
            <a:r>
              <a:rPr sz="2050" spc="125" dirty="0">
                <a:latin typeface="Cambria"/>
                <a:cs typeface="Cambria"/>
              </a:rPr>
              <a:t> </a:t>
            </a:r>
            <a:r>
              <a:rPr sz="2050" spc="155" dirty="0">
                <a:latin typeface="Cambria"/>
                <a:cs typeface="Cambria"/>
              </a:rPr>
              <a:t>to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spc="140" dirty="0">
                <a:latin typeface="Cambria"/>
                <a:cs typeface="Cambria"/>
              </a:rPr>
              <a:t>inspire</a:t>
            </a:r>
            <a:r>
              <a:rPr sz="2050" spc="150" dirty="0">
                <a:latin typeface="Cambria"/>
                <a:cs typeface="Cambria"/>
              </a:rPr>
              <a:t> </a:t>
            </a:r>
            <a:r>
              <a:rPr sz="2050" spc="135" dirty="0">
                <a:latin typeface="Cambria"/>
                <a:cs typeface="Cambria"/>
              </a:rPr>
              <a:t>others.</a:t>
            </a:r>
            <a:endParaRPr sz="205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7425" y="6172962"/>
            <a:ext cx="2699385" cy="4597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5"/>
              </a:spcBef>
            </a:pPr>
            <a:r>
              <a:rPr sz="1400" spc="155" dirty="0">
                <a:solidFill>
                  <a:srgbClr val="686464"/>
                </a:solidFill>
                <a:latin typeface="Cambria"/>
                <a:cs typeface="Cambria"/>
              </a:rPr>
              <a:t>School</a:t>
            </a:r>
            <a:r>
              <a:rPr sz="1400" spc="105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60" dirty="0">
                <a:solidFill>
                  <a:srgbClr val="686464"/>
                </a:solidFill>
                <a:latin typeface="Cambria"/>
                <a:cs typeface="Cambria"/>
              </a:rPr>
              <a:t>of</a:t>
            </a:r>
            <a:r>
              <a:rPr sz="1400" spc="110" dirty="0">
                <a:solidFill>
                  <a:srgbClr val="686464"/>
                </a:solidFill>
                <a:latin typeface="Cambria"/>
                <a:cs typeface="Cambria"/>
              </a:rPr>
              <a:t> Electronics</a:t>
            </a:r>
            <a:r>
              <a:rPr sz="1400" spc="105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14" dirty="0">
                <a:solidFill>
                  <a:srgbClr val="686464"/>
                </a:solidFill>
                <a:latin typeface="Cambria"/>
                <a:cs typeface="Cambria"/>
              </a:rPr>
              <a:t>and </a:t>
            </a:r>
            <a:r>
              <a:rPr sz="1400" spc="175" dirty="0">
                <a:solidFill>
                  <a:srgbClr val="686464"/>
                </a:solidFill>
                <a:latin typeface="Cambria"/>
                <a:cs typeface="Cambria"/>
              </a:rPr>
              <a:t>Communication</a:t>
            </a:r>
            <a:r>
              <a:rPr sz="1400" spc="90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25" dirty="0">
                <a:solidFill>
                  <a:srgbClr val="686464"/>
                </a:solidFill>
                <a:latin typeface="Cambria"/>
                <a:cs typeface="Cambria"/>
              </a:rPr>
              <a:t>Engineering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77" y="-235377"/>
            <a:ext cx="7656195" cy="1286544"/>
          </a:xfrm>
          <a:prstGeom prst="rect">
            <a:avLst/>
          </a:prstGeom>
        </p:spPr>
        <p:txBody>
          <a:bodyPr vert="horz" wrap="square" lIns="0" tIns="66221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How</a:t>
            </a:r>
            <a:r>
              <a:rPr spc="-540" dirty="0"/>
              <a:t> </a:t>
            </a:r>
            <a:r>
              <a:rPr spc="-100" dirty="0"/>
              <a:t>it</a:t>
            </a:r>
            <a:r>
              <a:rPr spc="-540" dirty="0"/>
              <a:t> </a:t>
            </a:r>
            <a:r>
              <a:rPr spc="-295" dirty="0"/>
              <a:t>works: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903" y="1408938"/>
            <a:ext cx="8540498" cy="4048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6575" marR="527050" indent="-524510">
              <a:lnSpc>
                <a:spcPct val="114999"/>
              </a:lnSpc>
              <a:spcBef>
                <a:spcPts val="100"/>
              </a:spcBef>
              <a:buChar char="➢"/>
              <a:tabLst>
                <a:tab pos="536575" algn="l"/>
                <a:tab pos="614045" algn="l"/>
              </a:tabLst>
            </a:pPr>
            <a:r>
              <a:rPr sz="2300" dirty="0">
                <a:solidFill>
                  <a:srgbClr val="D34817"/>
                </a:solidFill>
                <a:latin typeface="Segoe UI Symbol"/>
                <a:cs typeface="Segoe UI Symbol"/>
              </a:rPr>
              <a:t>	</a:t>
            </a:r>
            <a:r>
              <a:rPr sz="2300" b="1" spc="195" dirty="0">
                <a:latin typeface="Cambria"/>
                <a:cs typeface="Cambria"/>
              </a:rPr>
              <a:t>Input</a:t>
            </a:r>
            <a:r>
              <a:rPr sz="2300" b="1" spc="155" dirty="0">
                <a:latin typeface="Cambria"/>
                <a:cs typeface="Cambria"/>
              </a:rPr>
              <a:t> </a:t>
            </a:r>
            <a:r>
              <a:rPr sz="2300" spc="505" dirty="0">
                <a:latin typeface="Cambria"/>
                <a:cs typeface="Cambria"/>
              </a:rPr>
              <a:t>–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90" dirty="0">
                <a:latin typeface="Cambria"/>
                <a:cs typeface="Cambria"/>
              </a:rPr>
              <a:t>User</a:t>
            </a:r>
            <a:r>
              <a:rPr sz="2300" spc="105" dirty="0">
                <a:latin typeface="Cambria"/>
                <a:cs typeface="Cambria"/>
              </a:rPr>
              <a:t> </a:t>
            </a:r>
            <a:r>
              <a:rPr sz="2300" spc="155" dirty="0">
                <a:latin typeface="Cambria"/>
                <a:cs typeface="Cambria"/>
              </a:rPr>
              <a:t>enters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75" dirty="0">
                <a:latin typeface="Cambria"/>
                <a:cs typeface="Cambria"/>
              </a:rPr>
              <a:t>floor</a:t>
            </a:r>
            <a:r>
              <a:rPr sz="2300" spc="105" dirty="0">
                <a:latin typeface="Cambria"/>
                <a:cs typeface="Cambria"/>
              </a:rPr>
              <a:t> </a:t>
            </a:r>
            <a:r>
              <a:rPr sz="2300" spc="150" dirty="0">
                <a:latin typeface="Cambria"/>
                <a:cs typeface="Cambria"/>
              </a:rPr>
              <a:t>area,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215" dirty="0">
                <a:latin typeface="Cambria"/>
                <a:cs typeface="Cambria"/>
              </a:rPr>
              <a:t>occupancy, </a:t>
            </a:r>
            <a:r>
              <a:rPr sz="2300" spc="165" dirty="0">
                <a:latin typeface="Cambria"/>
                <a:cs typeface="Cambria"/>
              </a:rPr>
              <a:t>workdays, </a:t>
            </a:r>
            <a:r>
              <a:rPr sz="2300" spc="229" dirty="0">
                <a:latin typeface="Cambria"/>
                <a:cs typeface="Cambria"/>
              </a:rPr>
              <a:t>and</a:t>
            </a:r>
            <a:r>
              <a:rPr sz="2300" spc="170" dirty="0">
                <a:latin typeface="Cambria"/>
                <a:cs typeface="Cambria"/>
              </a:rPr>
              <a:t> </a:t>
            </a:r>
            <a:r>
              <a:rPr sz="2300" spc="204" dirty="0">
                <a:latin typeface="Cambria"/>
                <a:cs typeface="Cambria"/>
              </a:rPr>
              <a:t>climate</a:t>
            </a:r>
            <a:r>
              <a:rPr sz="2300" spc="170" dirty="0">
                <a:latin typeface="Cambria"/>
                <a:cs typeface="Cambria"/>
              </a:rPr>
              <a:t> </a:t>
            </a:r>
            <a:r>
              <a:rPr sz="2300" spc="204" dirty="0">
                <a:latin typeface="Cambria"/>
                <a:cs typeface="Cambria"/>
              </a:rPr>
              <a:t>zone.</a:t>
            </a:r>
            <a:endParaRPr sz="2300" dirty="0">
              <a:latin typeface="Cambria"/>
              <a:cs typeface="Cambria"/>
            </a:endParaRPr>
          </a:p>
          <a:p>
            <a:pPr marL="536575" marR="83820" indent="-524510">
              <a:lnSpc>
                <a:spcPct val="114999"/>
              </a:lnSpc>
              <a:buClr>
                <a:srgbClr val="D34817"/>
              </a:buClr>
              <a:buFont typeface="Segoe UI Symbol"/>
              <a:buChar char="➢"/>
              <a:tabLst>
                <a:tab pos="536575" algn="l"/>
              </a:tabLst>
            </a:pPr>
            <a:r>
              <a:rPr sz="2300" b="1" spc="225" dirty="0">
                <a:latin typeface="Cambria"/>
                <a:cs typeface="Cambria"/>
              </a:rPr>
              <a:t>Carbon</a:t>
            </a:r>
            <a:r>
              <a:rPr sz="2300" b="1" spc="120" dirty="0">
                <a:latin typeface="Cambria"/>
                <a:cs typeface="Cambria"/>
              </a:rPr>
              <a:t> </a:t>
            </a:r>
            <a:r>
              <a:rPr sz="2300" b="1" spc="254" dirty="0">
                <a:latin typeface="Cambria"/>
                <a:cs typeface="Cambria"/>
              </a:rPr>
              <a:t>Model</a:t>
            </a:r>
            <a:r>
              <a:rPr sz="2300" b="1" spc="165" dirty="0">
                <a:latin typeface="Cambria"/>
                <a:cs typeface="Cambria"/>
              </a:rPr>
              <a:t> </a:t>
            </a:r>
            <a:r>
              <a:rPr sz="2300" spc="505" dirty="0">
                <a:latin typeface="Cambria"/>
                <a:cs typeface="Cambria"/>
              </a:rPr>
              <a:t>–</a:t>
            </a:r>
            <a:r>
              <a:rPr sz="2300" spc="170" dirty="0">
                <a:latin typeface="Cambria"/>
                <a:cs typeface="Cambria"/>
              </a:rPr>
              <a:t> </a:t>
            </a:r>
            <a:r>
              <a:rPr sz="2300" spc="185" dirty="0">
                <a:latin typeface="Cambria"/>
                <a:cs typeface="Cambria"/>
              </a:rPr>
              <a:t>Calculates</a:t>
            </a:r>
            <a:r>
              <a:rPr sz="2300" spc="165" dirty="0">
                <a:latin typeface="Cambria"/>
                <a:cs typeface="Cambria"/>
              </a:rPr>
              <a:t> </a:t>
            </a:r>
            <a:r>
              <a:rPr sz="2300" spc="210" dirty="0">
                <a:latin typeface="Cambria"/>
                <a:cs typeface="Cambria"/>
              </a:rPr>
              <a:t>annual</a:t>
            </a:r>
            <a:r>
              <a:rPr sz="2300" spc="170" dirty="0">
                <a:latin typeface="Cambria"/>
                <a:cs typeface="Cambria"/>
              </a:rPr>
              <a:t> </a:t>
            </a:r>
            <a:r>
              <a:rPr sz="2300" spc="175" dirty="0">
                <a:latin typeface="Cambria"/>
                <a:cs typeface="Cambria"/>
              </a:rPr>
              <a:t>emissions </a:t>
            </a:r>
            <a:r>
              <a:rPr sz="2300" spc="190" dirty="0">
                <a:latin typeface="Cambria"/>
                <a:cs typeface="Cambria"/>
              </a:rPr>
              <a:t>using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225" dirty="0">
                <a:latin typeface="Cambria"/>
                <a:cs typeface="Cambria"/>
              </a:rPr>
              <a:t>energy</a:t>
            </a:r>
            <a:r>
              <a:rPr sz="2300" spc="95" dirty="0">
                <a:latin typeface="Cambria"/>
                <a:cs typeface="Cambria"/>
              </a:rPr>
              <a:t> </a:t>
            </a:r>
            <a:r>
              <a:rPr sz="2300" spc="160" dirty="0">
                <a:latin typeface="Cambria"/>
                <a:cs typeface="Cambria"/>
              </a:rPr>
              <a:t>factors </a:t>
            </a:r>
            <a:r>
              <a:rPr sz="2300" dirty="0">
                <a:latin typeface="Cambria"/>
                <a:cs typeface="Cambria"/>
              </a:rPr>
              <a:t>+</a:t>
            </a:r>
            <a:r>
              <a:rPr sz="2300" spc="155" dirty="0">
                <a:latin typeface="Cambria"/>
                <a:cs typeface="Cambria"/>
              </a:rPr>
              <a:t> </a:t>
            </a:r>
            <a:r>
              <a:rPr sz="2300" spc="204" dirty="0">
                <a:latin typeface="Cambria"/>
                <a:cs typeface="Cambria"/>
              </a:rPr>
              <a:t>climate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75" dirty="0">
                <a:latin typeface="Cambria"/>
                <a:cs typeface="Cambria"/>
              </a:rPr>
              <a:t>multipliers.</a:t>
            </a:r>
            <a:endParaRPr sz="2300" dirty="0">
              <a:latin typeface="Cambria"/>
              <a:cs typeface="Cambria"/>
            </a:endParaRPr>
          </a:p>
          <a:p>
            <a:pPr marL="536575" marR="5080" indent="-524510">
              <a:lnSpc>
                <a:spcPct val="114999"/>
              </a:lnSpc>
              <a:buClr>
                <a:srgbClr val="D34817"/>
              </a:buClr>
              <a:buFont typeface="Segoe UI Symbol"/>
              <a:buChar char="➢"/>
              <a:tabLst>
                <a:tab pos="536575" algn="l"/>
              </a:tabLst>
            </a:pPr>
            <a:r>
              <a:rPr sz="2300" b="1" spc="210" dirty="0">
                <a:latin typeface="Cambria"/>
                <a:cs typeface="Cambria"/>
              </a:rPr>
              <a:t>Green</a:t>
            </a:r>
            <a:r>
              <a:rPr sz="2300" b="1" spc="114" dirty="0">
                <a:latin typeface="Cambria"/>
                <a:cs typeface="Cambria"/>
              </a:rPr>
              <a:t> </a:t>
            </a:r>
            <a:r>
              <a:rPr sz="2300" b="1" spc="185" dirty="0">
                <a:latin typeface="Cambria"/>
                <a:cs typeface="Cambria"/>
              </a:rPr>
              <a:t>Score</a:t>
            </a:r>
            <a:r>
              <a:rPr sz="2300" b="1" spc="155" dirty="0">
                <a:latin typeface="Cambria"/>
                <a:cs typeface="Cambria"/>
              </a:rPr>
              <a:t> </a:t>
            </a:r>
            <a:r>
              <a:rPr sz="2300" spc="505" dirty="0">
                <a:latin typeface="Cambria"/>
                <a:cs typeface="Cambria"/>
              </a:rPr>
              <a:t>–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70" dirty="0">
                <a:latin typeface="Cambria"/>
                <a:cs typeface="Cambria"/>
              </a:rPr>
              <a:t>Rates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90" dirty="0">
                <a:latin typeface="Cambria"/>
                <a:cs typeface="Cambria"/>
              </a:rPr>
              <a:t>the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210" dirty="0">
                <a:latin typeface="Cambria"/>
                <a:cs typeface="Cambria"/>
              </a:rPr>
              <a:t>building</a:t>
            </a:r>
            <a:r>
              <a:rPr sz="2300" spc="140" dirty="0">
                <a:latin typeface="Cambria"/>
                <a:cs typeface="Cambria"/>
              </a:rPr>
              <a:t> (0–100)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85" dirty="0">
                <a:latin typeface="Cambria"/>
                <a:cs typeface="Cambria"/>
              </a:rPr>
              <a:t>and </a:t>
            </a:r>
            <a:r>
              <a:rPr sz="2300" spc="229" dirty="0">
                <a:latin typeface="Cambria"/>
                <a:cs typeface="Cambria"/>
              </a:rPr>
              <a:t>benchmarks</a:t>
            </a:r>
            <a:r>
              <a:rPr sz="2300" spc="155" dirty="0">
                <a:latin typeface="Cambria"/>
                <a:cs typeface="Cambria"/>
              </a:rPr>
              <a:t> </a:t>
            </a:r>
            <a:r>
              <a:rPr sz="2300" spc="120" dirty="0">
                <a:latin typeface="Cambria"/>
                <a:cs typeface="Cambria"/>
              </a:rPr>
              <a:t>it</a:t>
            </a:r>
            <a:r>
              <a:rPr sz="2300" spc="160" dirty="0">
                <a:latin typeface="Cambria"/>
                <a:cs typeface="Cambria"/>
              </a:rPr>
              <a:t> against</a:t>
            </a:r>
            <a:r>
              <a:rPr sz="2300" spc="155" dirty="0">
                <a:latin typeface="Cambria"/>
                <a:cs typeface="Cambria"/>
              </a:rPr>
              <a:t> </a:t>
            </a:r>
            <a:r>
              <a:rPr sz="2300" spc="185" dirty="0">
                <a:latin typeface="Cambria"/>
                <a:cs typeface="Cambria"/>
              </a:rPr>
              <a:t>similar</a:t>
            </a:r>
            <a:r>
              <a:rPr sz="2300" spc="100" dirty="0">
                <a:latin typeface="Cambria"/>
                <a:cs typeface="Cambria"/>
              </a:rPr>
              <a:t> </a:t>
            </a:r>
            <a:r>
              <a:rPr sz="2300" spc="170" dirty="0">
                <a:latin typeface="Cambria"/>
                <a:cs typeface="Cambria"/>
              </a:rPr>
              <a:t>ones.</a:t>
            </a:r>
            <a:endParaRPr sz="2300" dirty="0">
              <a:latin typeface="Cambria"/>
              <a:cs typeface="Cambria"/>
            </a:endParaRPr>
          </a:p>
          <a:p>
            <a:pPr marL="536575" marR="158750" indent="-524510">
              <a:lnSpc>
                <a:spcPct val="114999"/>
              </a:lnSpc>
              <a:buClr>
                <a:srgbClr val="D34817"/>
              </a:buClr>
              <a:buFont typeface="Segoe UI Symbol"/>
              <a:buChar char="➢"/>
              <a:tabLst>
                <a:tab pos="536575" algn="l"/>
              </a:tabLst>
            </a:pPr>
            <a:r>
              <a:rPr sz="2300" b="1" spc="200" dirty="0">
                <a:latin typeface="Cambria"/>
                <a:cs typeface="Cambria"/>
              </a:rPr>
              <a:t>Smart</a:t>
            </a:r>
            <a:r>
              <a:rPr sz="2300" b="1" spc="110" dirty="0">
                <a:latin typeface="Cambria"/>
                <a:cs typeface="Cambria"/>
              </a:rPr>
              <a:t> </a:t>
            </a:r>
            <a:r>
              <a:rPr sz="2300" b="1" spc="155" dirty="0">
                <a:latin typeface="Cambria"/>
                <a:cs typeface="Cambria"/>
              </a:rPr>
              <a:t>Suggestions</a:t>
            </a:r>
            <a:r>
              <a:rPr sz="2300" b="1" spc="150" dirty="0">
                <a:latin typeface="Cambria"/>
                <a:cs typeface="Cambria"/>
              </a:rPr>
              <a:t> </a:t>
            </a:r>
            <a:r>
              <a:rPr sz="2300" spc="505" dirty="0">
                <a:latin typeface="Cambria"/>
                <a:cs typeface="Cambria"/>
              </a:rPr>
              <a:t>–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185" dirty="0">
                <a:latin typeface="Cambria"/>
                <a:cs typeface="Cambria"/>
              </a:rPr>
              <a:t>Provides</a:t>
            </a:r>
            <a:r>
              <a:rPr sz="2300" spc="155" dirty="0">
                <a:latin typeface="Cambria"/>
                <a:cs typeface="Cambria"/>
              </a:rPr>
              <a:t> tailored </a:t>
            </a:r>
            <a:r>
              <a:rPr sz="2300" spc="160" dirty="0">
                <a:latin typeface="Cambria"/>
                <a:cs typeface="Cambria"/>
              </a:rPr>
              <a:t>solutions:</a:t>
            </a:r>
            <a:r>
              <a:rPr sz="2300" spc="175" dirty="0">
                <a:latin typeface="Cambria"/>
                <a:cs typeface="Cambria"/>
              </a:rPr>
              <a:t> </a:t>
            </a:r>
            <a:r>
              <a:rPr sz="2300" spc="290" dirty="0">
                <a:latin typeface="Cambria"/>
                <a:cs typeface="Cambria"/>
              </a:rPr>
              <a:t>LEDs,</a:t>
            </a:r>
            <a:r>
              <a:rPr sz="2300" spc="175" dirty="0">
                <a:latin typeface="Cambria"/>
                <a:cs typeface="Cambria"/>
              </a:rPr>
              <a:t> insulation, </a:t>
            </a:r>
            <a:r>
              <a:rPr sz="2300" spc="130" dirty="0">
                <a:latin typeface="Cambria"/>
                <a:cs typeface="Cambria"/>
              </a:rPr>
              <a:t>solar,</a:t>
            </a:r>
            <a:r>
              <a:rPr sz="2300" spc="110" dirty="0">
                <a:latin typeface="Cambria"/>
                <a:cs typeface="Cambria"/>
              </a:rPr>
              <a:t> </a:t>
            </a:r>
            <a:r>
              <a:rPr sz="2300" spc="160" dirty="0">
                <a:latin typeface="Cambria"/>
                <a:cs typeface="Cambria"/>
              </a:rPr>
              <a:t>ventilation, </a:t>
            </a:r>
            <a:r>
              <a:rPr sz="2300" spc="130" dirty="0">
                <a:latin typeface="Cambria"/>
                <a:cs typeface="Cambria"/>
              </a:rPr>
              <a:t>etc.</a:t>
            </a:r>
            <a:endParaRPr sz="2300" dirty="0">
              <a:latin typeface="Cambria"/>
              <a:cs typeface="Cambria"/>
            </a:endParaRPr>
          </a:p>
          <a:p>
            <a:pPr marL="536575" marR="396875" indent="-524510">
              <a:lnSpc>
                <a:spcPct val="114999"/>
              </a:lnSpc>
              <a:buClr>
                <a:srgbClr val="D34817"/>
              </a:buClr>
              <a:buFont typeface="Segoe UI Symbol"/>
              <a:buChar char="➢"/>
              <a:tabLst>
                <a:tab pos="536575" algn="l"/>
              </a:tabLst>
            </a:pPr>
            <a:r>
              <a:rPr sz="2300" b="1" spc="160" dirty="0">
                <a:latin typeface="Cambria"/>
                <a:cs typeface="Cambria"/>
              </a:rPr>
              <a:t>Leaderboard</a:t>
            </a:r>
            <a:r>
              <a:rPr sz="2300" b="1" spc="120" dirty="0">
                <a:latin typeface="Cambria"/>
                <a:cs typeface="Cambria"/>
              </a:rPr>
              <a:t> </a:t>
            </a:r>
            <a:r>
              <a:rPr sz="2300" b="1" spc="340" dirty="0">
                <a:latin typeface="Cambria"/>
                <a:cs typeface="Cambria"/>
              </a:rPr>
              <a:t>&amp;</a:t>
            </a:r>
            <a:r>
              <a:rPr sz="2300" b="1" spc="120" dirty="0">
                <a:latin typeface="Cambria"/>
                <a:cs typeface="Cambria"/>
              </a:rPr>
              <a:t> </a:t>
            </a:r>
            <a:r>
              <a:rPr sz="2300" b="1" spc="195" dirty="0">
                <a:latin typeface="Cambria"/>
                <a:cs typeface="Cambria"/>
              </a:rPr>
              <a:t>Sharing</a:t>
            </a:r>
            <a:r>
              <a:rPr sz="2300" b="1" spc="85" dirty="0">
                <a:latin typeface="Cambria"/>
                <a:cs typeface="Cambria"/>
              </a:rPr>
              <a:t> </a:t>
            </a:r>
            <a:r>
              <a:rPr sz="2300" spc="505" dirty="0">
                <a:latin typeface="Cambria"/>
                <a:cs typeface="Cambria"/>
              </a:rPr>
              <a:t>–</a:t>
            </a:r>
            <a:r>
              <a:rPr sz="2300" spc="170" dirty="0">
                <a:latin typeface="Cambria"/>
                <a:cs typeface="Cambria"/>
              </a:rPr>
              <a:t> </a:t>
            </a:r>
            <a:r>
              <a:rPr sz="2300" spc="300" dirty="0">
                <a:latin typeface="Cambria"/>
                <a:cs typeface="Cambria"/>
              </a:rPr>
              <a:t>Compare</a:t>
            </a:r>
            <a:r>
              <a:rPr sz="2300" spc="165" dirty="0">
                <a:latin typeface="Cambria"/>
                <a:cs typeface="Cambria"/>
              </a:rPr>
              <a:t> </a:t>
            </a:r>
            <a:r>
              <a:rPr sz="2300" spc="125" dirty="0">
                <a:latin typeface="Cambria"/>
                <a:cs typeface="Cambria"/>
              </a:rPr>
              <a:t>scores, </a:t>
            </a:r>
            <a:r>
              <a:rPr sz="2300" spc="190" dirty="0">
                <a:latin typeface="Cambria"/>
                <a:cs typeface="Cambria"/>
              </a:rPr>
              <a:t>earn</a:t>
            </a:r>
            <a:r>
              <a:rPr sz="2300" spc="160" dirty="0">
                <a:latin typeface="Cambria"/>
                <a:cs typeface="Cambria"/>
              </a:rPr>
              <a:t> </a:t>
            </a:r>
            <a:r>
              <a:rPr sz="2300" spc="215" dirty="0">
                <a:latin typeface="Cambria"/>
                <a:cs typeface="Cambria"/>
              </a:rPr>
              <a:t>eco-</a:t>
            </a:r>
            <a:r>
              <a:rPr sz="2300" spc="195" dirty="0">
                <a:latin typeface="Cambria"/>
                <a:cs typeface="Cambria"/>
              </a:rPr>
              <a:t>badges,</a:t>
            </a:r>
            <a:r>
              <a:rPr sz="2300" spc="165" dirty="0">
                <a:latin typeface="Cambria"/>
                <a:cs typeface="Cambria"/>
              </a:rPr>
              <a:t> </a:t>
            </a:r>
            <a:r>
              <a:rPr sz="2300" spc="229" dirty="0">
                <a:latin typeface="Cambria"/>
                <a:cs typeface="Cambria"/>
              </a:rPr>
              <a:t>and</a:t>
            </a:r>
            <a:r>
              <a:rPr sz="2300" spc="165" dirty="0">
                <a:latin typeface="Cambria"/>
                <a:cs typeface="Cambria"/>
              </a:rPr>
              <a:t> </a:t>
            </a:r>
            <a:r>
              <a:rPr sz="2300" spc="160" dirty="0">
                <a:latin typeface="Cambria"/>
                <a:cs typeface="Cambria"/>
              </a:rPr>
              <a:t>share</a:t>
            </a:r>
            <a:r>
              <a:rPr sz="2300" spc="165" dirty="0">
                <a:latin typeface="Cambria"/>
                <a:cs typeface="Cambria"/>
              </a:rPr>
              <a:t> </a:t>
            </a:r>
            <a:r>
              <a:rPr sz="2300" spc="120" dirty="0">
                <a:latin typeface="Cambria"/>
                <a:cs typeface="Cambria"/>
              </a:rPr>
              <a:t>results</a:t>
            </a:r>
            <a:r>
              <a:rPr sz="2300" spc="165" dirty="0">
                <a:latin typeface="Cambria"/>
                <a:cs typeface="Cambria"/>
              </a:rPr>
              <a:t> </a:t>
            </a:r>
            <a:r>
              <a:rPr sz="2300" spc="195" dirty="0">
                <a:latin typeface="Cambria"/>
                <a:cs typeface="Cambria"/>
              </a:rPr>
              <a:t>online.</a:t>
            </a:r>
            <a:endParaRPr sz="2300" dirty="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7425" y="6172962"/>
            <a:ext cx="2699385" cy="4597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5"/>
              </a:spcBef>
            </a:pPr>
            <a:r>
              <a:rPr sz="1400" spc="155" dirty="0">
                <a:solidFill>
                  <a:srgbClr val="686464"/>
                </a:solidFill>
                <a:latin typeface="Cambria"/>
                <a:cs typeface="Cambria"/>
              </a:rPr>
              <a:t>School</a:t>
            </a:r>
            <a:r>
              <a:rPr sz="1400" spc="105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60" dirty="0">
                <a:solidFill>
                  <a:srgbClr val="686464"/>
                </a:solidFill>
                <a:latin typeface="Cambria"/>
                <a:cs typeface="Cambria"/>
              </a:rPr>
              <a:t>of</a:t>
            </a:r>
            <a:r>
              <a:rPr sz="1400" spc="110" dirty="0">
                <a:solidFill>
                  <a:srgbClr val="686464"/>
                </a:solidFill>
                <a:latin typeface="Cambria"/>
                <a:cs typeface="Cambria"/>
              </a:rPr>
              <a:t> Electronics</a:t>
            </a:r>
            <a:r>
              <a:rPr sz="1400" spc="105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14" dirty="0">
                <a:solidFill>
                  <a:srgbClr val="686464"/>
                </a:solidFill>
                <a:latin typeface="Cambria"/>
                <a:cs typeface="Cambria"/>
              </a:rPr>
              <a:t>and </a:t>
            </a:r>
            <a:r>
              <a:rPr sz="1400" spc="175" dirty="0">
                <a:solidFill>
                  <a:srgbClr val="686464"/>
                </a:solidFill>
                <a:latin typeface="Cambria"/>
                <a:cs typeface="Cambria"/>
              </a:rPr>
              <a:t>Communication</a:t>
            </a:r>
            <a:r>
              <a:rPr sz="1400" spc="90" dirty="0">
                <a:solidFill>
                  <a:srgbClr val="686464"/>
                </a:solidFill>
                <a:latin typeface="Cambria"/>
                <a:cs typeface="Cambria"/>
              </a:rPr>
              <a:t> </a:t>
            </a:r>
            <a:r>
              <a:rPr sz="1400" spc="125" dirty="0">
                <a:solidFill>
                  <a:srgbClr val="686464"/>
                </a:solidFill>
                <a:latin typeface="Cambria"/>
                <a:cs typeface="Cambria"/>
              </a:rPr>
              <a:t>Engineering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425" y="39780"/>
            <a:ext cx="7656195" cy="1222677"/>
          </a:xfrm>
          <a:prstGeom prst="rect">
            <a:avLst/>
          </a:prstGeom>
        </p:spPr>
        <p:txBody>
          <a:bodyPr vert="horz" wrap="square" lIns="0" tIns="66221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spc="-55" dirty="0"/>
              <a:t>The</a:t>
            </a:r>
            <a:r>
              <a:rPr sz="3600" spc="-535" dirty="0"/>
              <a:t> </a:t>
            </a:r>
            <a:r>
              <a:rPr sz="3600" spc="-140" dirty="0"/>
              <a:t>impact</a:t>
            </a:r>
            <a:r>
              <a:rPr sz="3600" spc="-530" dirty="0"/>
              <a:t> </a:t>
            </a:r>
            <a:r>
              <a:rPr sz="3600" spc="-130" dirty="0"/>
              <a:t>we</a:t>
            </a:r>
            <a:r>
              <a:rPr sz="3600" spc="-530" dirty="0"/>
              <a:t> </a:t>
            </a:r>
            <a:r>
              <a:rPr sz="3600" spc="-70" dirty="0"/>
              <a:t>expect</a:t>
            </a:r>
          </a:p>
        </p:txBody>
      </p:sp>
      <p:sp>
        <p:nvSpPr>
          <p:cNvPr id="3" name="object 3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4359" y="1524000"/>
            <a:ext cx="8277917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782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500" b="1" spc="220" dirty="0">
                <a:latin typeface="Cambria"/>
                <a:cs typeface="Cambria"/>
              </a:rPr>
              <a:t>Web-</a:t>
            </a:r>
            <a:r>
              <a:rPr sz="2500" b="1" spc="175" dirty="0">
                <a:latin typeface="Cambria"/>
                <a:cs typeface="Cambria"/>
              </a:rPr>
              <a:t>based</a:t>
            </a:r>
            <a:r>
              <a:rPr sz="2500" b="1" spc="120" dirty="0">
                <a:latin typeface="Cambria"/>
                <a:cs typeface="Cambria"/>
              </a:rPr>
              <a:t> </a:t>
            </a:r>
            <a:r>
              <a:rPr sz="2500" b="1" spc="250" dirty="0">
                <a:latin typeface="Cambria"/>
                <a:cs typeface="Cambria"/>
              </a:rPr>
              <a:t>Carbon</a:t>
            </a:r>
            <a:r>
              <a:rPr sz="2500" b="1" spc="125" dirty="0">
                <a:latin typeface="Cambria"/>
                <a:cs typeface="Cambria"/>
              </a:rPr>
              <a:t> </a:t>
            </a:r>
            <a:r>
              <a:rPr sz="2500" b="1" spc="185" dirty="0">
                <a:latin typeface="Cambria"/>
                <a:cs typeface="Cambria"/>
              </a:rPr>
              <a:t>Calculator</a:t>
            </a:r>
            <a:r>
              <a:rPr sz="2500" b="1" spc="175" dirty="0">
                <a:latin typeface="Cambria"/>
                <a:cs typeface="Cambria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→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200" dirty="0">
                <a:latin typeface="Cambria"/>
                <a:cs typeface="Cambria"/>
              </a:rPr>
              <a:t>for </a:t>
            </a:r>
            <a:r>
              <a:rPr sz="2500" spc="204" dirty="0">
                <a:latin typeface="Cambria"/>
                <a:cs typeface="Cambria"/>
              </a:rPr>
              <a:t>buildings</a:t>
            </a:r>
            <a:r>
              <a:rPr sz="2500" spc="180" dirty="0">
                <a:latin typeface="Cambria"/>
                <a:cs typeface="Cambria"/>
              </a:rPr>
              <a:t> </a:t>
            </a:r>
            <a:r>
              <a:rPr sz="2500" spc="465" dirty="0">
                <a:latin typeface="Cambria"/>
                <a:cs typeface="Cambria"/>
              </a:rPr>
              <a:t>&amp;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225" dirty="0">
                <a:latin typeface="Cambria"/>
                <a:cs typeface="Cambria"/>
              </a:rPr>
              <a:t>campuses</a:t>
            </a:r>
            <a:endParaRPr sz="2500" dirty="0">
              <a:latin typeface="Cambria"/>
              <a:cs typeface="Cambria"/>
            </a:endParaRPr>
          </a:p>
          <a:p>
            <a:pPr marL="355600" marR="682625" indent="-34290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2500" b="1" spc="254" dirty="0">
                <a:latin typeface="Cambria"/>
                <a:cs typeface="Cambria"/>
              </a:rPr>
              <a:t>“What-</a:t>
            </a:r>
            <a:r>
              <a:rPr sz="2500" b="1" spc="260" dirty="0">
                <a:latin typeface="Cambria"/>
                <a:cs typeface="Cambria"/>
              </a:rPr>
              <a:t>If”</a:t>
            </a:r>
            <a:r>
              <a:rPr sz="2500" b="1" spc="-35" dirty="0">
                <a:latin typeface="Cambria"/>
                <a:cs typeface="Cambria"/>
              </a:rPr>
              <a:t> </a:t>
            </a:r>
            <a:r>
              <a:rPr sz="2500" b="1" spc="150" dirty="0">
                <a:latin typeface="Cambria"/>
                <a:cs typeface="Cambria"/>
              </a:rPr>
              <a:t>Analysis</a:t>
            </a:r>
            <a:r>
              <a:rPr sz="2500" b="1" spc="175" dirty="0">
                <a:latin typeface="Cambria"/>
                <a:cs typeface="Cambria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→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110" dirty="0">
                <a:latin typeface="Cambria"/>
                <a:cs typeface="Cambria"/>
              </a:rPr>
              <a:t>test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204" dirty="0">
                <a:latin typeface="Cambria"/>
                <a:cs typeface="Cambria"/>
              </a:rPr>
              <a:t>upgrades,</a:t>
            </a:r>
            <a:r>
              <a:rPr sz="2500" spc="185" dirty="0">
                <a:latin typeface="Cambria"/>
                <a:cs typeface="Cambria"/>
              </a:rPr>
              <a:t> </a:t>
            </a:r>
            <a:r>
              <a:rPr sz="2500" spc="245" dirty="0">
                <a:latin typeface="Cambria"/>
                <a:cs typeface="Cambria"/>
              </a:rPr>
              <a:t>make </a:t>
            </a:r>
            <a:r>
              <a:rPr sz="2500" spc="190" dirty="0">
                <a:latin typeface="Cambria"/>
                <a:cs typeface="Cambria"/>
              </a:rPr>
              <a:t>smarter</a:t>
            </a:r>
            <a:r>
              <a:rPr sz="2500" spc="130" dirty="0">
                <a:latin typeface="Cambria"/>
                <a:cs typeface="Cambria"/>
              </a:rPr>
              <a:t> </a:t>
            </a:r>
            <a:r>
              <a:rPr sz="2500" spc="200" dirty="0">
                <a:latin typeface="Cambria"/>
                <a:cs typeface="Cambria"/>
              </a:rPr>
              <a:t>choices</a:t>
            </a:r>
            <a:endParaRPr sz="2500" dirty="0">
              <a:latin typeface="Cambria"/>
              <a:cs typeface="Cambria"/>
            </a:endParaRPr>
          </a:p>
          <a:p>
            <a:pPr marL="355600" marR="257175" indent="-34290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2500" b="1" spc="250" dirty="0">
                <a:latin typeface="Cambria"/>
                <a:cs typeface="Cambria"/>
              </a:rPr>
              <a:t>Gamiﬁed</a:t>
            </a:r>
            <a:r>
              <a:rPr sz="2500" b="1" spc="120" dirty="0">
                <a:latin typeface="Cambria"/>
                <a:cs typeface="Cambria"/>
              </a:rPr>
              <a:t> </a:t>
            </a:r>
            <a:r>
              <a:rPr sz="2500" b="1" spc="235" dirty="0">
                <a:latin typeface="Cambria"/>
                <a:cs typeface="Cambria"/>
              </a:rPr>
              <a:t>Green</a:t>
            </a:r>
            <a:r>
              <a:rPr sz="2500" b="1" spc="120" dirty="0">
                <a:latin typeface="Cambria"/>
                <a:cs typeface="Cambria"/>
              </a:rPr>
              <a:t> </a:t>
            </a:r>
            <a:r>
              <a:rPr sz="2500" b="1" spc="200" dirty="0">
                <a:latin typeface="Cambria"/>
                <a:cs typeface="Cambria"/>
              </a:rPr>
              <a:t>Score</a:t>
            </a:r>
            <a:r>
              <a:rPr sz="2500" b="1" spc="170" dirty="0">
                <a:latin typeface="Cambria"/>
                <a:cs typeface="Cambria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→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150" dirty="0">
                <a:latin typeface="Cambria"/>
                <a:cs typeface="Cambria"/>
              </a:rPr>
              <a:t>awareness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235" dirty="0">
                <a:latin typeface="Cambria"/>
                <a:cs typeface="Cambria"/>
              </a:rPr>
              <a:t>through </a:t>
            </a:r>
            <a:r>
              <a:rPr sz="2500" spc="290" dirty="0">
                <a:latin typeface="Cambria"/>
                <a:cs typeface="Cambria"/>
              </a:rPr>
              <a:t>fun</a:t>
            </a:r>
            <a:r>
              <a:rPr sz="2500" spc="170" dirty="0">
                <a:latin typeface="Cambria"/>
                <a:cs typeface="Cambria"/>
              </a:rPr>
              <a:t> </a:t>
            </a:r>
            <a:r>
              <a:rPr sz="2500" spc="465" dirty="0">
                <a:latin typeface="Cambria"/>
                <a:cs typeface="Cambria"/>
              </a:rPr>
              <a:t>&amp;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235" dirty="0">
                <a:latin typeface="Cambria"/>
                <a:cs typeface="Cambria"/>
              </a:rPr>
              <a:t>competition</a:t>
            </a:r>
            <a:endParaRPr sz="2500" dirty="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2500" b="1" spc="240" dirty="0">
                <a:latin typeface="Cambria"/>
                <a:cs typeface="Cambria"/>
              </a:rPr>
              <a:t>Customized</a:t>
            </a:r>
            <a:r>
              <a:rPr sz="2500" b="1" spc="114" dirty="0">
                <a:latin typeface="Cambria"/>
                <a:cs typeface="Cambria"/>
              </a:rPr>
              <a:t> </a:t>
            </a:r>
            <a:r>
              <a:rPr sz="2500" b="1" spc="185" dirty="0">
                <a:latin typeface="Cambria"/>
                <a:cs typeface="Cambria"/>
              </a:rPr>
              <a:t>for</a:t>
            </a:r>
            <a:r>
              <a:rPr sz="2500" b="1" spc="80" dirty="0">
                <a:latin typeface="Cambria"/>
                <a:cs typeface="Cambria"/>
              </a:rPr>
              <a:t> </a:t>
            </a:r>
            <a:r>
              <a:rPr sz="2500" b="1" spc="200" dirty="0">
                <a:latin typeface="Cambria"/>
                <a:cs typeface="Cambria"/>
              </a:rPr>
              <a:t>Indian</a:t>
            </a:r>
            <a:r>
              <a:rPr sz="2500" b="1" spc="114" dirty="0">
                <a:latin typeface="Cambria"/>
                <a:cs typeface="Cambria"/>
              </a:rPr>
              <a:t> </a:t>
            </a:r>
            <a:r>
              <a:rPr sz="2500" b="1" spc="225" dirty="0">
                <a:latin typeface="Cambria"/>
                <a:cs typeface="Cambria"/>
              </a:rPr>
              <a:t>Climate</a:t>
            </a:r>
            <a:r>
              <a:rPr sz="2500" b="1" spc="120" dirty="0">
                <a:latin typeface="Cambria"/>
                <a:cs typeface="Cambria"/>
              </a:rPr>
              <a:t> </a:t>
            </a:r>
            <a:r>
              <a:rPr sz="2500" b="1" spc="245" dirty="0">
                <a:latin typeface="Cambria"/>
                <a:cs typeface="Cambria"/>
              </a:rPr>
              <a:t>Zones</a:t>
            </a:r>
            <a:r>
              <a:rPr sz="2500" b="1" spc="160" dirty="0">
                <a:latin typeface="Cambria"/>
                <a:cs typeface="Cambria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→</a:t>
            </a: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500" spc="195" dirty="0">
                <a:latin typeface="Cambria"/>
                <a:cs typeface="Cambria"/>
              </a:rPr>
              <a:t>locally</a:t>
            </a:r>
            <a:r>
              <a:rPr sz="2500" spc="114" dirty="0">
                <a:latin typeface="Cambria"/>
                <a:cs typeface="Cambria"/>
              </a:rPr>
              <a:t> </a:t>
            </a:r>
            <a:r>
              <a:rPr sz="2500" spc="170" dirty="0">
                <a:latin typeface="Cambria"/>
                <a:cs typeface="Cambria"/>
              </a:rPr>
              <a:t>relevant</a:t>
            </a:r>
            <a:r>
              <a:rPr sz="2500" spc="200" dirty="0">
                <a:latin typeface="Cambria"/>
                <a:cs typeface="Cambria"/>
              </a:rPr>
              <a:t> </a:t>
            </a:r>
            <a:r>
              <a:rPr sz="2500" spc="120" dirty="0">
                <a:latin typeface="Cambria"/>
                <a:cs typeface="Cambria"/>
              </a:rPr>
              <a:t>results</a:t>
            </a:r>
            <a:endParaRPr sz="2500" dirty="0">
              <a:latin typeface="Cambria"/>
              <a:cs typeface="Cambria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sz="2500" b="1" spc="165" dirty="0">
                <a:latin typeface="Cambria"/>
                <a:cs typeface="Cambria"/>
              </a:rPr>
              <a:t>Scalable</a:t>
            </a:r>
            <a:r>
              <a:rPr sz="2500" b="1" spc="120" dirty="0">
                <a:latin typeface="Cambria"/>
                <a:cs typeface="Cambria"/>
              </a:rPr>
              <a:t> </a:t>
            </a:r>
            <a:r>
              <a:rPr sz="2500" b="1" spc="200" dirty="0">
                <a:latin typeface="Cambria"/>
                <a:cs typeface="Cambria"/>
              </a:rPr>
              <a:t>Solution</a:t>
            </a:r>
            <a:r>
              <a:rPr sz="2500" b="1" spc="170" dirty="0">
                <a:latin typeface="Cambria"/>
                <a:cs typeface="Cambria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→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spc="315" dirty="0">
                <a:latin typeface="Cambria"/>
                <a:cs typeface="Cambria"/>
              </a:rPr>
              <a:t>from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185" dirty="0">
                <a:latin typeface="Cambria"/>
                <a:cs typeface="Cambria"/>
              </a:rPr>
              <a:t>colleges</a:t>
            </a:r>
            <a:r>
              <a:rPr sz="2500" spc="180" dirty="0">
                <a:latin typeface="Cambria"/>
                <a:cs typeface="Cambria"/>
              </a:rPr>
              <a:t> </a:t>
            </a:r>
            <a:r>
              <a:rPr sz="2500" spc="195" dirty="0">
                <a:latin typeface="Cambria"/>
                <a:cs typeface="Cambria"/>
              </a:rPr>
              <a:t>to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135" dirty="0">
                <a:latin typeface="Cambria"/>
                <a:cs typeface="Cambria"/>
              </a:rPr>
              <a:t>offices</a:t>
            </a:r>
            <a:r>
              <a:rPr sz="2500" spc="180" dirty="0">
                <a:latin typeface="Cambria"/>
                <a:cs typeface="Cambria"/>
              </a:rPr>
              <a:t> </a:t>
            </a:r>
            <a:r>
              <a:rPr sz="2500" spc="415" dirty="0">
                <a:latin typeface="Cambria"/>
                <a:cs typeface="Cambria"/>
              </a:rPr>
              <a:t>&amp; </a:t>
            </a:r>
            <a:r>
              <a:rPr sz="2500" spc="210" dirty="0">
                <a:latin typeface="Cambria"/>
                <a:cs typeface="Cambria"/>
              </a:rPr>
              <a:t>smart</a:t>
            </a:r>
            <a:r>
              <a:rPr sz="2500" spc="175" dirty="0">
                <a:latin typeface="Cambria"/>
                <a:cs typeface="Cambria"/>
              </a:rPr>
              <a:t> </a:t>
            </a:r>
            <a:r>
              <a:rPr sz="2500" spc="140" dirty="0">
                <a:latin typeface="Cambria"/>
                <a:cs typeface="Cambria"/>
              </a:rPr>
              <a:t>cities</a:t>
            </a:r>
            <a:endParaRPr sz="25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EA03-0EE3-76DF-C6C3-0A396A51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F5896-2C51-F900-2A9C-86EFE28BC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55" dirty="0"/>
              <a:t>Entity Relation Diagram</a:t>
            </a:r>
            <a:endParaRPr spc="-1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B416F58-30E0-515A-416D-8FF8E82D98C6}"/>
              </a:ext>
            </a:extLst>
          </p:cNvPr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1288D2-0F53-7547-5F31-9BFA9C7CB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7425" y="1443862"/>
            <a:ext cx="7423784" cy="764953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5"/>
              </a:spcBef>
              <a:buSzPct val="43478"/>
              <a:tabLst>
                <a:tab pos="469265" algn="l"/>
              </a:tabLst>
            </a:pPr>
            <a:r>
              <a:rPr lang="en-US" spc="250" dirty="0"/>
              <a:t> </a:t>
            </a:r>
          </a:p>
          <a:p>
            <a:pPr marL="161290">
              <a:lnSpc>
                <a:spcPct val="100000"/>
              </a:lnSpc>
              <a:spcBef>
                <a:spcPts val="245"/>
              </a:spcBef>
              <a:buSzPct val="43478"/>
              <a:tabLst>
                <a:tab pos="469265" algn="l"/>
              </a:tabLst>
            </a:pPr>
            <a:endParaRPr spc="25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B8966C0-FF07-7AB0-9E55-409E24F3C9D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4B9F9-5169-438A-729D-4FA843CE0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58" y="1343257"/>
            <a:ext cx="7423784" cy="478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5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82C1-0C81-47F5-EDFF-EEC29963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E29D-092D-3B08-471F-35807E708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19" y="557221"/>
            <a:ext cx="7656195" cy="615553"/>
          </a:xfrm>
        </p:spPr>
        <p:txBody>
          <a:bodyPr/>
          <a:lstStyle/>
          <a:p>
            <a:pPr algn="ctr"/>
            <a:r>
              <a:rPr lang="en-US" dirty="0" err="1"/>
              <a:t>EcoCalc</a:t>
            </a:r>
            <a:r>
              <a:rPr lang="en-US" dirty="0"/>
              <a:t> – Emission Calculator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448AA-356C-574A-A627-7F2380F4F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D3978-7F60-E29E-2122-4B2ACF03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51" y="1309915"/>
            <a:ext cx="8544550" cy="468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38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A118-E197-E265-A820-28552B51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A1C9-49A1-A53D-F4EA-4E6F67CC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19" y="557221"/>
            <a:ext cx="7656195" cy="615553"/>
          </a:xfrm>
        </p:spPr>
        <p:txBody>
          <a:bodyPr/>
          <a:lstStyle/>
          <a:p>
            <a:pPr algn="ctr"/>
            <a:r>
              <a:rPr lang="en-US" dirty="0" err="1"/>
              <a:t>EcoCalc</a:t>
            </a:r>
            <a:r>
              <a:rPr lang="en-US" dirty="0"/>
              <a:t> – Emission Calculator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0EE00-A656-6A28-D507-8ED2FD696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5332B-F672-928D-3E0B-E4CB89FB6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79" y="1524000"/>
            <a:ext cx="8001000" cy="45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0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D676-3A1E-D1DF-6B42-21253292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0998"/>
            <a:ext cx="7656195" cy="615553"/>
          </a:xfrm>
        </p:spPr>
        <p:txBody>
          <a:bodyPr/>
          <a:lstStyle/>
          <a:p>
            <a:pPr algn="ctr"/>
            <a:r>
              <a:rPr lang="en-US" dirty="0"/>
              <a:t>Tech Stack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56F4D7-21ED-534A-85B5-32533735F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37477"/>
              </p:ext>
            </p:extLst>
          </p:nvPr>
        </p:nvGraphicFramePr>
        <p:xfrm>
          <a:off x="725804" y="1239066"/>
          <a:ext cx="8113395" cy="523793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704465">
                  <a:extLst>
                    <a:ext uri="{9D8B030D-6E8A-4147-A177-3AD203B41FA5}">
                      <a16:colId xmlns:a16="http://schemas.microsoft.com/office/drawing/2014/main" val="2864776082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4008413556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3281713560"/>
                    </a:ext>
                  </a:extLst>
                </a:gridCol>
              </a:tblGrid>
              <a:tr h="21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Layer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Technology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Purpose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1124727915"/>
                  </a:ext>
                </a:extLst>
              </a:tr>
              <a:tr h="53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Frontend Framework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React.js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Builds interactive UI (dashboard, forms, results)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508185552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Language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TypeScript (TSX)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Type-safe frontend development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655755305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Styling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Tailwind CSS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Modern UI, responsive dashboard design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850288826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Build Tool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Vite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Fast development server &amp; bundling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940171927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State Management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React Hooks (useState)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Manage form data &amp; results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213824006"/>
                  </a:ext>
                </a:extLst>
              </a:tr>
              <a:tr h="214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Backend Runtime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Node.js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Runs server-side logic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1023294270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Backend Framework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Express.js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Handles APIs and routing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560352212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Database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SQLite3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Stores data locally (lightweight DB)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290181770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API Communication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REST APIs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Connect frontend ↔ backend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850787466"/>
                  </a:ext>
                </a:extLst>
              </a:tr>
              <a:tr h="53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CORS Handling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cors (npm package)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Allows frontend-backend communication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729113129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Version Control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Git + GitHub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Code hosting and collaboration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871546711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Deployment (Frontend)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Render</a:t>
                      </a:r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Hosting React app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3555365351"/>
                  </a:ext>
                </a:extLst>
              </a:tr>
              <a:tr h="37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Deployment (Backend)</a:t>
                      </a:r>
                      <a:endParaRPr lang="en-IN" sz="100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Render </a:t>
                      </a:r>
                      <a:endParaRPr lang="en-IN" sz="1000" dirty="0"/>
                    </a:p>
                  </a:txBody>
                  <a:tcPr marL="49437" marR="49437" marT="24718" marB="247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Hosting Node + Express server</a:t>
                      </a:r>
                    </a:p>
                  </a:txBody>
                  <a:tcPr marL="49437" marR="49437" marT="24718" marB="24718" anchor="ctr"/>
                </a:tc>
                <a:extLst>
                  <a:ext uri="{0D108BD9-81ED-4DB2-BD59-A6C34878D82A}">
                    <a16:rowId xmlns:a16="http://schemas.microsoft.com/office/drawing/2014/main" val="93982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15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0755" y="3077743"/>
            <a:ext cx="30029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THANK</a:t>
            </a:r>
            <a:r>
              <a:rPr spc="-555" dirty="0"/>
              <a:t> </a:t>
            </a:r>
            <a:r>
              <a:rPr spc="-55" dirty="0"/>
              <a:t>YOU</a:t>
            </a:r>
          </a:p>
        </p:txBody>
      </p:sp>
      <p:sp>
        <p:nvSpPr>
          <p:cNvPr id="3" name="object 3"/>
          <p:cNvSpPr/>
          <p:nvPr/>
        </p:nvSpPr>
        <p:spPr>
          <a:xfrm>
            <a:off x="146303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599" y="457199"/>
                </a:moveTo>
                <a:lnTo>
                  <a:pt x="182529" y="452555"/>
                </a:lnTo>
                <a:lnTo>
                  <a:pt x="139618" y="439235"/>
                </a:lnTo>
                <a:lnTo>
                  <a:pt x="100787" y="418158"/>
                </a:lnTo>
                <a:lnTo>
                  <a:pt x="66955" y="390244"/>
                </a:lnTo>
                <a:lnTo>
                  <a:pt x="39041" y="356412"/>
                </a:lnTo>
                <a:lnTo>
                  <a:pt x="17964" y="317581"/>
                </a:lnTo>
                <a:lnTo>
                  <a:pt x="4644" y="274670"/>
                </a:lnTo>
                <a:lnTo>
                  <a:pt x="0" y="228599"/>
                </a:lnTo>
                <a:lnTo>
                  <a:pt x="4644" y="182529"/>
                </a:lnTo>
                <a:lnTo>
                  <a:pt x="17964" y="139618"/>
                </a:lnTo>
                <a:lnTo>
                  <a:pt x="39041" y="100787"/>
                </a:lnTo>
                <a:lnTo>
                  <a:pt x="66955" y="66955"/>
                </a:lnTo>
                <a:lnTo>
                  <a:pt x="100787" y="39041"/>
                </a:lnTo>
                <a:lnTo>
                  <a:pt x="139618" y="17964"/>
                </a:lnTo>
                <a:lnTo>
                  <a:pt x="182529" y="4644"/>
                </a:lnTo>
                <a:lnTo>
                  <a:pt x="228599" y="0"/>
                </a:lnTo>
                <a:lnTo>
                  <a:pt x="273405" y="4433"/>
                </a:lnTo>
                <a:lnTo>
                  <a:pt x="316081" y="17401"/>
                </a:lnTo>
                <a:lnTo>
                  <a:pt x="355427" y="38407"/>
                </a:lnTo>
                <a:lnTo>
                  <a:pt x="390244" y="66955"/>
                </a:lnTo>
                <a:lnTo>
                  <a:pt x="418792" y="101772"/>
                </a:lnTo>
                <a:lnTo>
                  <a:pt x="439798" y="141118"/>
                </a:lnTo>
                <a:lnTo>
                  <a:pt x="452766" y="183794"/>
                </a:lnTo>
                <a:lnTo>
                  <a:pt x="457199" y="228599"/>
                </a:lnTo>
                <a:lnTo>
                  <a:pt x="452555" y="274670"/>
                </a:lnTo>
                <a:lnTo>
                  <a:pt x="439235" y="317581"/>
                </a:lnTo>
                <a:lnTo>
                  <a:pt x="418158" y="356412"/>
                </a:lnTo>
                <a:lnTo>
                  <a:pt x="390244" y="390244"/>
                </a:lnTo>
                <a:lnTo>
                  <a:pt x="356412" y="418158"/>
                </a:lnTo>
                <a:lnTo>
                  <a:pt x="317581" y="439235"/>
                </a:lnTo>
                <a:lnTo>
                  <a:pt x="274670" y="452555"/>
                </a:lnTo>
                <a:lnTo>
                  <a:pt x="228599" y="457199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1854</TotalTime>
  <Words>515</Words>
  <Application>Microsoft Office PowerPoint</Application>
  <PresentationFormat>On-screen Show (4:3)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SimSun-ExtB</vt:lpstr>
      <vt:lpstr>Arial</vt:lpstr>
      <vt:lpstr>Cambria</vt:lpstr>
      <vt:lpstr>Microsoft Sans Serif</vt:lpstr>
      <vt:lpstr>Segoe UI Symbol</vt:lpstr>
      <vt:lpstr>Times New Roman</vt:lpstr>
      <vt:lpstr>Verdana</vt:lpstr>
      <vt:lpstr>Office Theme</vt:lpstr>
      <vt:lpstr>Department of Electrical and Electronics Engineering</vt:lpstr>
      <vt:lpstr>Why this project matters?</vt:lpstr>
      <vt:lpstr>Visions &amp; Objectives</vt:lpstr>
      <vt:lpstr>What makes us different  (proposed system)</vt:lpstr>
      <vt:lpstr>How it works:</vt:lpstr>
      <vt:lpstr>The impact we expect</vt:lpstr>
      <vt:lpstr>Entity Relation Diagram</vt:lpstr>
      <vt:lpstr>EcoCalc – Emission Calculator</vt:lpstr>
      <vt:lpstr>EcoCalc – Emission Calculator</vt:lpstr>
      <vt:lpstr>Tech Stack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PPT format (1)</dc:title>
  <dc:creator>Janvi Bajpai</dc:creator>
  <cp:lastModifiedBy>Janvi Bajpai</cp:lastModifiedBy>
  <cp:revision>4</cp:revision>
  <dcterms:created xsi:type="dcterms:W3CDTF">2025-11-05T04:01:47Z</dcterms:created>
  <dcterms:modified xsi:type="dcterms:W3CDTF">2026-04-17T21:20:41Z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2025-11-05T00:00:00Z</vt:filetime>
  </property>
</Properties>
</file>